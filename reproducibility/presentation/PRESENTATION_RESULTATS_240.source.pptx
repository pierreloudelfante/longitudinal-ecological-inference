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bce69b2404406a" /><Relationship Type="http://schemas.openxmlformats.org/officeDocument/2006/relationships/extended-properties" Target="/docProps/app.xml" Id="R648c00e1a3884e18" /><Relationship Type="http://schemas.openxmlformats.org/officeDocument/2006/relationships/officeDocument" Target="/ppt/presentation.xml" Id="Rf390c3c4f6314f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bdedcb93894d2e"/>
  </p:sldMasterIdLst>
  <p:notesMasterIdLst>
    <p:notesMasterId xmlns:r="http://schemas.openxmlformats.org/officeDocument/2006/relationships" r:id="Rade5e0f0ad544f72"/>
  </p:notesMasterIdLst>
  <p:sldIdLst>
    <p:sldId xmlns:r="http://schemas.openxmlformats.org/officeDocument/2006/relationships" id="256" r:id="Rb5db363fc85b4dd9"/>
    <p:sldId xmlns:r="http://schemas.openxmlformats.org/officeDocument/2006/relationships" id="257" r:id="Rdd818bc290144206"/>
    <p:sldId xmlns:r="http://schemas.openxmlformats.org/officeDocument/2006/relationships" id="258" r:id="R53b63b9610f04db1"/>
    <p:sldId xmlns:r="http://schemas.openxmlformats.org/officeDocument/2006/relationships" id="259" r:id="Rc73999ae12eb42c9"/>
    <p:sldId xmlns:r="http://schemas.openxmlformats.org/officeDocument/2006/relationships" id="260" r:id="R090ee13784a44f96"/>
    <p:sldId xmlns:r="http://schemas.openxmlformats.org/officeDocument/2006/relationships" id="261" r:id="Rf9c18bfa19634c4c"/>
    <p:sldId xmlns:r="http://schemas.openxmlformats.org/officeDocument/2006/relationships" id="262" r:id="Rdd37e283b335428c"/>
    <p:sldId xmlns:r="http://schemas.openxmlformats.org/officeDocument/2006/relationships" id="263" r:id="R57e69c3fd5494dee"/>
    <p:sldId xmlns:r="http://schemas.openxmlformats.org/officeDocument/2006/relationships" id="264" r:id="R4ac05d2c263349e2"/>
    <p:sldId xmlns:r="http://schemas.openxmlformats.org/officeDocument/2006/relationships" id="265" r:id="R6d28774081e4431c"/>
    <p:sldId xmlns:r="http://schemas.openxmlformats.org/officeDocument/2006/relationships" id="266" r:id="R1b03e679f224428c"/>
    <p:sldId xmlns:r="http://schemas.openxmlformats.org/officeDocument/2006/relationships" id="267" r:id="R138a2aad12e146c3"/>
    <p:sldId xmlns:r="http://schemas.openxmlformats.org/officeDocument/2006/relationships" id="268" r:id="Rb55af50e10a74857"/>
    <p:sldId xmlns:r="http://schemas.openxmlformats.org/officeDocument/2006/relationships" id="269" r:id="R4b49546abf104e01"/>
    <p:sldId xmlns:r="http://schemas.openxmlformats.org/officeDocument/2006/relationships" id="270" r:id="Ra9c9115c4f1c41fe"/>
    <p:sldId xmlns:r="http://schemas.openxmlformats.org/officeDocument/2006/relationships" id="271" r:id="R79b5457db9e0488c"/>
    <p:sldId xmlns:r="http://schemas.openxmlformats.org/officeDocument/2006/relationships" id="272" r:id="Ra923331f58014ba5"/>
    <p:sldId xmlns:r="http://schemas.openxmlformats.org/officeDocument/2006/relationships" id="273" r:id="Rbec478aac5644c41"/>
    <p:sldId xmlns:r="http://schemas.openxmlformats.org/officeDocument/2006/relationships" id="274" r:id="R4bd5616edb8f4c66"/>
    <p:sldId xmlns:r="http://schemas.openxmlformats.org/officeDocument/2006/relationships" id="275" r:id="Rfd9e6a9e2baa49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1d0814ebfc4030" /><Relationship Type="http://schemas.openxmlformats.org/officeDocument/2006/relationships/slideMaster" Target="/ppt/slideMasters/slideMaster1.xml" Id="R07bdedcb93894d2e" /><Relationship Type="http://schemas.openxmlformats.org/officeDocument/2006/relationships/notesMaster" Target="/ppt/notesMasters/notesMaster1.xml" Id="Rade5e0f0ad544f72" /><Relationship Type="http://schemas.openxmlformats.org/officeDocument/2006/relationships/presProps" Target="/ppt/presProps.xml" Id="R269b0269a5b74297" /><Relationship Type="http://schemas.openxmlformats.org/officeDocument/2006/relationships/viewProps" Target="/ppt/viewProps.xml" Id="Rd09475adbdf14f95" /><Relationship Type="http://schemas.openxmlformats.org/officeDocument/2006/relationships/tableStyles" Target="/ppt/tableStyles.xml" Id="R5dbb916163484404" /><Relationship Type="http://schemas.openxmlformats.org/officeDocument/2006/relationships/slide" Target="/ppt/slides/slide1.xml" Id="Rb5db363fc85b4dd9" /><Relationship Type="http://schemas.openxmlformats.org/officeDocument/2006/relationships/slide" Target="/ppt/slides/slide2.xml" Id="Rdd818bc290144206" /><Relationship Type="http://schemas.openxmlformats.org/officeDocument/2006/relationships/slide" Target="/ppt/slides/slide3.xml" Id="R53b63b9610f04db1" /><Relationship Type="http://schemas.openxmlformats.org/officeDocument/2006/relationships/slide" Target="/ppt/slides/slide4.xml" Id="Rc73999ae12eb42c9" /><Relationship Type="http://schemas.openxmlformats.org/officeDocument/2006/relationships/slide" Target="/ppt/slides/slide5.xml" Id="R090ee13784a44f96" /><Relationship Type="http://schemas.openxmlformats.org/officeDocument/2006/relationships/slide" Target="/ppt/slides/slide6.xml" Id="Rf9c18bfa19634c4c" /><Relationship Type="http://schemas.openxmlformats.org/officeDocument/2006/relationships/slide" Target="/ppt/slides/slide7.xml" Id="Rdd37e283b335428c" /><Relationship Type="http://schemas.openxmlformats.org/officeDocument/2006/relationships/slide" Target="/ppt/slides/slide8.xml" Id="R57e69c3fd5494dee" /><Relationship Type="http://schemas.openxmlformats.org/officeDocument/2006/relationships/slide" Target="/ppt/slides/slide9.xml" Id="R4ac05d2c263349e2" /><Relationship Type="http://schemas.openxmlformats.org/officeDocument/2006/relationships/slide" Target="/ppt/slides/slide10.xml" Id="R6d28774081e4431c" /><Relationship Type="http://schemas.openxmlformats.org/officeDocument/2006/relationships/slide" Target="/ppt/slides/slide11.xml" Id="R1b03e679f224428c" /><Relationship Type="http://schemas.openxmlformats.org/officeDocument/2006/relationships/slide" Target="/ppt/slides/slide12.xml" Id="R138a2aad12e146c3" /><Relationship Type="http://schemas.openxmlformats.org/officeDocument/2006/relationships/slide" Target="/ppt/slides/slide13.xml" Id="Rb55af50e10a74857" /><Relationship Type="http://schemas.openxmlformats.org/officeDocument/2006/relationships/slide" Target="/ppt/slides/slide14.xml" Id="R4b49546abf104e01" /><Relationship Type="http://schemas.openxmlformats.org/officeDocument/2006/relationships/slide" Target="/ppt/slides/slide15.xml" Id="Ra9c9115c4f1c41fe" /><Relationship Type="http://schemas.openxmlformats.org/officeDocument/2006/relationships/slide" Target="/ppt/slides/slide16.xml" Id="R79b5457db9e0488c" /><Relationship Type="http://schemas.openxmlformats.org/officeDocument/2006/relationships/slide" Target="/ppt/slides/slide17.xml" Id="Ra923331f58014ba5" /><Relationship Type="http://schemas.openxmlformats.org/officeDocument/2006/relationships/slide" Target="/ppt/slides/slide18.xml" Id="Rbec478aac5644c41" /><Relationship Type="http://schemas.openxmlformats.org/officeDocument/2006/relationships/slide" Target="/ppt/slides/slide19.xml" Id="R4bd5616edb8f4c66" /><Relationship Type="http://schemas.openxmlformats.org/officeDocument/2006/relationships/slide" Target="/ppt/slides/slide20.xml" Id="Rfd9e6a9e2baa49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ab0b84347545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4caaf9c7054f8c" /><Relationship Type="http://schemas.openxmlformats.org/officeDocument/2006/relationships/notesMaster" Target="/ppt/notesMasters/notesMaster1.xml" Id="R8ccc2f64d75040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f02aa0a9ed479f" /><Relationship Type="http://schemas.openxmlformats.org/officeDocument/2006/relationships/notesMaster" Target="/ppt/notesMasters/notesMaster1.xml" Id="Rfc79bd75e74847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dc5b5fdbdd4cd4" /><Relationship Type="http://schemas.openxmlformats.org/officeDocument/2006/relationships/notesMaster" Target="/ppt/notesMasters/notesMaster1.xml" Id="Rbad950acbe9e43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baa51ff6f94f4e" /><Relationship Type="http://schemas.openxmlformats.org/officeDocument/2006/relationships/notesMaster" Target="/ppt/notesMasters/notesMaster1.xml" Id="R3749a49a46184b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6cd17853864001" /><Relationship Type="http://schemas.openxmlformats.org/officeDocument/2006/relationships/notesMaster" Target="/ppt/notesMasters/notesMaster1.xml" Id="Rbb3001dfa8ce43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9b744256764618" /><Relationship Type="http://schemas.openxmlformats.org/officeDocument/2006/relationships/notesMaster" Target="/ppt/notesMasters/notesMaster1.xml" Id="R3f798582379744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d730ae152b4b78" /><Relationship Type="http://schemas.openxmlformats.org/officeDocument/2006/relationships/notesMaster" Target="/ppt/notesMasters/notesMaster1.xml" Id="R4a39f23390354a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65386bb70b4ac5" /><Relationship Type="http://schemas.openxmlformats.org/officeDocument/2006/relationships/notesMaster" Target="/ppt/notesMasters/notesMaster1.xml" Id="R6c7322de9cb445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34933452454cc5" /><Relationship Type="http://schemas.openxmlformats.org/officeDocument/2006/relationships/notesMaster" Target="/ppt/notesMasters/notesMaster1.xml" Id="R72c1ef2798fe46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ec1ecfceb94159" /><Relationship Type="http://schemas.openxmlformats.org/officeDocument/2006/relationships/notesMaster" Target="/ppt/notesMasters/notesMaster1.xml" Id="R60f21eee4e2443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9e9588d7594b96" /><Relationship Type="http://schemas.openxmlformats.org/officeDocument/2006/relationships/notesMaster" Target="/ppt/notesMasters/notesMaster1.xml" Id="R432eefe7c68842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8d2e4eaa1c4790" /><Relationship Type="http://schemas.openxmlformats.org/officeDocument/2006/relationships/notesMaster" Target="/ppt/notesMasters/notesMaster1.xml" Id="Rdb213d737e6442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ed4701978a4c15" /><Relationship Type="http://schemas.openxmlformats.org/officeDocument/2006/relationships/notesMaster" Target="/ppt/notesMasters/notesMaster1.xml" Id="R3db2581dce1e4c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e7efc245c446c5" /><Relationship Type="http://schemas.openxmlformats.org/officeDocument/2006/relationships/notesMaster" Target="/ppt/notesMasters/notesMaster1.xml" Id="Racefaddf7d514e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ff9acbb73b4f09" /><Relationship Type="http://schemas.openxmlformats.org/officeDocument/2006/relationships/notesMaster" Target="/ppt/notesMasters/notesMaster1.xml" Id="R65ce646161f54f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016a867a7a4457" /><Relationship Type="http://schemas.openxmlformats.org/officeDocument/2006/relationships/notesMaster" Target="/ppt/notesMasters/notesMaster1.xml" Id="R9e89ffd4c9fa40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d7b61d2e89488e" /><Relationship Type="http://schemas.openxmlformats.org/officeDocument/2006/relationships/notesMaster" Target="/ppt/notesMasters/notesMaster1.xml" Id="Re9dd596449284cb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5876c73639d4d7e" /><Relationship Type="http://schemas.openxmlformats.org/officeDocument/2006/relationships/notesMaster" Target="/ppt/notesMasters/notesMaster1.xml" Id="Re8191bbce4b240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f00f52cbdc4de9" /><Relationship Type="http://schemas.openxmlformats.org/officeDocument/2006/relationships/notesMaster" Target="/ppt/notesMasters/notesMaster1.xml" Id="Rfed5a61ccdfa4fb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f1660728154988" /><Relationship Type="http://schemas.openxmlformats.org/officeDocument/2006/relationships/notesMaster" Target="/ppt/notesMasters/notesMaster1.xml" Id="R89938ff539784a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- 03_FIGURES/trajectoire_H0A/H0A_legislative.png</a:t>
            </a:r>
          </a:p>
          <a:p xmlns:a="http://schemas.openxmlformats.org/drawingml/2006/main">
            <a:r>
              <a:t>- 02_TABLES_PRINCIPALES/longitudinal_krt_aggregate.parquet</a:t>
            </a:r>
          </a:p>
          <a:p xmlns:a="http://schemas.openxmlformats.org/drawingml/2006/main">
            <a:r>
              <a:t>- 02_TABLES_PRINCIPALES/longitudinal_r_ei_aggregate.parquet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- 02_TABLES_PRINCIPALES/longitudinal_krt_aggregate.parquet</a:t>
            </a:r>
          </a:p>
          <a:p xmlns:a="http://schemas.openxmlformats.org/drawingml/2006/main">
            <a:r>
              <a:t>- 02_TABLES_PRINCIPALES/longitudinal_r_ei_aggregate.parquet</a:t>
            </a:r>
          </a:p>
          <a:p xmlns:a="http://schemas.openxmlformats.org/drawingml/2006/main">
            <a:r>
              <a:t>- 02_TABLES_PRINCIPALES/longitudinal_nls.parquet</a:t>
            </a:r>
          </a:p>
          <a:p xmlns:a="http://schemas.openxmlformats.org/drawingml/2006/main">
            <a:r>
              <a:t>- 05_DIAGNOSTICS/diagnostics_KRT_resume.csv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- 04_PANEL_ET_HARMONISATION/panel_2000.csv</a:t>
            </a:r>
          </a:p>
          <a:p xmlns:a="http://schemas.openxmlformats.org/drawingml/2006/main">
            <a:r>
              <a:t>- 06_DOCUMENTATION/MODEL_SCENARIOS.csv</a:t>
            </a:r>
          </a:p>
          <a:p xmlns:a="http://schemas.openxmlformats.org/drawingml/2006/main">
            <a:r>
              <a:t>- 02_TABLES_PRINCIPALES/longitudinal_krt_aggregate.parquet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Négatif au début, positif depuis les années 1980.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- 03_FIGURES/trajectoire_H0A/H0A_legislative.png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contraste récent est positif, mais moins élevé qu'aux législatives.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- 03_FIGURES/trajectoire_H0A/H0A_presidential.png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Positif pendant une grande partie de la période, négatif en 2022.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- 03_FIGURES/trajectoire_H1/H1_legislative.png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contraste atteint un maximum à la fin des années 1980 puis passe sous zéro.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- 03_FIGURES/trajectoire_H1/H1_presidential.png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H0B isole les ouvriers pour éviter qu’une moyenne populaire ne masque leur trajectoire propre.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- 03_FIGURES/trajectoires_KRT_R_NLS_toutes_hypotheses/combined/H0B_legislative_presidential.png</a:t>
            </a:r>
          </a:p>
          <a:p xmlns:a="http://schemas.openxmlformats.org/drawingml/2006/main">
            <a:r>
              <a:t>- 02_TABLES_PRINCIPALES/longitudinal_contrasts_krt_r_nls.parquet</a:t>
            </a:r>
          </a:p>
          <a:p xmlns:a="http://schemas.openxmlformats.org/drawingml/2006/main">
            <a:r>
              <a:t>- 06_DOCUMENTATION/MODEL_SCENARIOS.csv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H0C sépare les employés des ouvriers et rend visible une dynamique sociale différente.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- 03_FIGURES/trajectoires_KRT_R_NLS_toutes_hypotheses/combined/H0C_legislative_presidential.png</a:t>
            </a:r>
          </a:p>
          <a:p xmlns:a="http://schemas.openxmlformats.org/drawingml/2006/main">
            <a:r>
              <a:t>- 02_TABLES_PRINCIPALES/longitudinal_contrasts_krt_r_nls.parquet</a:t>
            </a:r>
          </a:p>
          <a:p xmlns:a="http://schemas.openxmlformats.org/drawingml/2006/main">
            <a:r>
              <a:t>- 06_DOCUMENTATION/MODEL_SCENARIOS.csv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H2 suit spécifiquement le contraste écologique du vote à gauche chez les ouvriers.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- 03_FIGURES/trajectoires_KRT_R_NLS_toutes_hypotheses/combined/H2_legislative_presidential.png</a:t>
            </a:r>
          </a:p>
          <a:p xmlns:a="http://schemas.openxmlformats.org/drawingml/2006/main">
            <a:r>
              <a:t>- 02_TABLES_PRINCIPALES/longitudinal_contrasts_krt_r_nls.parquet</a:t>
            </a:r>
          </a:p>
          <a:p xmlns:a="http://schemas.openxmlformats.org/drawingml/2006/main">
            <a:r>
              <a:t>- 06_DOCUMENTATION/MODEL_SCENARIOS.csv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H3 confirme l’intérêt de ne pas traiter ouvriers et employés comme un bloc homogène.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- 03_FIGURES/trajectoires_KRT_R_NLS_toutes_hypotheses/combined/H3_legislative_presidential.png</a:t>
            </a:r>
          </a:p>
          <a:p xmlns:a="http://schemas.openxmlformats.org/drawingml/2006/main">
            <a:r>
              <a:t>- 02_TABLES_PRINCIPALES/longitudinal_contrasts_krt_r_nls.parquet</a:t>
            </a:r>
          </a:p>
          <a:p xmlns:a="http://schemas.openxmlformats.org/drawingml/2006/main">
            <a:r>
              <a:t>- 06_DOCUMENTATION/MODEL_SCENARIOS.csv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H4 change le découpage social : indépendants agricoles contre ensemble des salariés.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- 03_FIGURES/trajectoires_KRT_R_NLS_toutes_hypotheses/combined/H4_legislative_presidential.png</a:t>
            </a:r>
          </a:p>
          <a:p xmlns:a="http://schemas.openxmlformats.org/drawingml/2006/main">
            <a:r>
              <a:t>- 02_TABLES_PRINCIPALES/longitudinal_contrasts_krt_r_nls.parquet</a:t>
            </a:r>
          </a:p>
          <a:p xmlns:a="http://schemas.openxmlformats.org/drawingml/2006/main">
            <a:r>
              <a:t>- 06_DOCUMENTATION/MODEL_SCENARIOS.csv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H5 complète la comparaison en isolant les cadres face aux autres groupes sociaux.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- 03_FIGURES/trajectoires_KRT_R_NLS_toutes_hypotheses/combined/H5_legislative_presidential.png</a:t>
            </a:r>
          </a:p>
          <a:p xmlns:a="http://schemas.openxmlformats.org/drawingml/2006/main">
            <a:r>
              <a:t>- 02_TABLES_PRINCIPALES/longitudinal_contrasts_krt_r_nls.parquet</a:t>
            </a:r>
          </a:p>
          <a:p xmlns:a="http://schemas.openxmlformats.org/drawingml/2006/main">
            <a:r>
              <a:t>- 06_DOCUMENTATION/MODEL_SCENARIOS.csv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H6 est interprété sur une fenêtre plus courte, alignée sur la disponibilité du vote FN/RN.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- 03_FIGURES/trajectoires_KRT_R_NLS_toutes_hypotheses/combined/H6_legislative_presidential.png</a:t>
            </a:r>
          </a:p>
          <a:p xmlns:a="http://schemas.openxmlformats.org/drawingml/2006/main">
            <a:r>
              <a:t>- 02_TABLES_PRINCIPALES/longitudinal_contrasts_krt_r_nls.parquet</a:t>
            </a:r>
          </a:p>
          <a:p xmlns:a="http://schemas.openxmlformats.org/drawingml/2006/main">
            <a:r>
              <a:t>- 06_DOCUMENTATION/MODEL_SCENARIOS.csv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H7 sépare les employés des ouvriers sur la même fenêtre électorale depuis 1986.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- 03_FIGURES/trajectoires_KRT_R_NLS_toutes_hypotheses/combined/H7_legislative_presidential.png</a:t>
            </a:r>
          </a:p>
          <a:p xmlns:a="http://schemas.openxmlformats.org/drawingml/2006/main">
            <a:r>
              <a:t>- 02_TABLES_PRINCIPALES/longitudinal_contrasts_krt_r_nls.parquet</a:t>
            </a:r>
          </a:p>
          <a:p xmlns:a="http://schemas.openxmlformats.org/drawingml/2006/main">
            <a:r>
              <a:t>- 06_DOCUMENTATION/MODEL_SCENARIOS.csv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plupart des 240 couples restent proches de la diagonale.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- 03_FIGURES/comparaison_KRT_NLS/comparaison_krt_nls.png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H3 présente l'écart absolu médian le plus élevé ; H0B le plus faible.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work/longitudinal_2000_v1_full_240_professeur_candidate/03_FIGURES/comparaison_modeles/ecart_median_par_hypothese.png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- 03_FIGURES/distributions_2D_2022/distributions_2d_2022.png</a:t>
            </a:r>
          </a:p>
          <a:p xmlns:a="http://schemas.openxmlformats.org/drawingml/2006/main">
            <a:r>
              <a:t>- 02_TABLES_PRINCIPALES/longitudinal_krt_commune.parquet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- 05_DIAGNOSTICS/diagnostics_KRT_resume.csv</a:t>
            </a:r>
          </a:p>
          <a:p xmlns:a="http://schemas.openxmlformats.org/drawingml/2006/main">
            <a:r>
              <a:t>- 05_DIAGNOSTICS/diagnostics_NLS_resume.csv</a:t>
            </a:r>
          </a:p>
          <a:p xmlns:a="http://schemas.openxmlformats.org/drawingml/2006/main">
            <a:r>
              <a:t>- 05_DIAGNOSTICS/identification_resume.csv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- 00_README_PROFESSEUR.md</a:t>
            </a:r>
          </a:p>
          <a:p xmlns:a="http://schemas.openxmlformats.org/drawingml/2006/main">
            <a:r>
              <a:t>- 06_DOCUMENTATION/DELIVERY_MANIFEST.json</a:t>
            </a:r>
          </a:p>
          <a:p xmlns:a="http://schemas.openxmlformats.org/drawingml/2006/main">
            <a:r>
              <a:t>- config/releases/professor_release_240.json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87ea9a4ef4a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c514a6686d4e2a" /><Relationship Type="http://schemas.openxmlformats.org/officeDocument/2006/relationships/slideLayout" Target="/ppt/slideLayouts/slideLayout1.xml" Id="R3faccd6cef6a4d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accd6cef6a4d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748bd60444888" /><Relationship Type="http://schemas.openxmlformats.org/officeDocument/2006/relationships/image" Target="/ppt/media/image.png" Id="R59d18d5917e940cb" /><Relationship Type="http://schemas.openxmlformats.org/officeDocument/2006/relationships/notesSlide" Target="/ppt/notesSlides/notesSlide1.xml" Id="Rc52c6ee8de524f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163942c734586" /><Relationship Type="http://schemas.openxmlformats.org/officeDocument/2006/relationships/notesSlide" Target="/ppt/notesSlides/notesSlide2.xml" Id="Rd463e24f9f6e46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3c38c79a6408d" /><Relationship Type="http://schemas.openxmlformats.org/officeDocument/2006/relationships/notesSlide" Target="/ppt/notesSlides/notesSlide3.xml" Id="R2a2f619e16cd43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6bcee1fa04782" /><Relationship Type="http://schemas.openxmlformats.org/officeDocument/2006/relationships/image" Target="/ppt/media/image.png" Id="R79345ea0c48949fa" /><Relationship Type="http://schemas.openxmlformats.org/officeDocument/2006/relationships/notesSlide" Target="/ppt/notesSlides/notesSlide4.xml" Id="R0f9309a960e142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028a39ff04df5" /><Relationship Type="http://schemas.openxmlformats.org/officeDocument/2006/relationships/image" Target="/ppt/media/image2.png" Id="Rb9080cc940b44cfb" /><Relationship Type="http://schemas.openxmlformats.org/officeDocument/2006/relationships/notesSlide" Target="/ppt/notesSlides/notesSlide5.xml" Id="Ra13c913fccfd45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fc421c2824bd3" /><Relationship Type="http://schemas.openxmlformats.org/officeDocument/2006/relationships/image" Target="/ppt/media/image3.png" Id="Rc8e7b537c5764064" /><Relationship Type="http://schemas.openxmlformats.org/officeDocument/2006/relationships/notesSlide" Target="/ppt/notesSlides/notesSlide6.xml" Id="R7ca5b77e5d4b48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827daf8744572" /><Relationship Type="http://schemas.openxmlformats.org/officeDocument/2006/relationships/image" Target="/ppt/media/image4.png" Id="Red1bd2a03cc04339" /><Relationship Type="http://schemas.openxmlformats.org/officeDocument/2006/relationships/notesSlide" Target="/ppt/notesSlides/notesSlide7.xml" Id="R2b960726f05f4d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ab1ffdb5b4303" /><Relationship Type="http://schemas.openxmlformats.org/officeDocument/2006/relationships/image" Target="/ppt/media/image5.png" Id="Re9713d7c6f8d4121" /><Relationship Type="http://schemas.openxmlformats.org/officeDocument/2006/relationships/notesSlide" Target="/ppt/notesSlides/notesSlide8.xml" Id="R6e9cc8561dbf43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b96d791a44671" /><Relationship Type="http://schemas.openxmlformats.org/officeDocument/2006/relationships/image" Target="/ppt/media/image6.png" Id="Rdf9bd597d4af4ea0" /><Relationship Type="http://schemas.openxmlformats.org/officeDocument/2006/relationships/notesSlide" Target="/ppt/notesSlides/notesSlide9.xml" Id="Re20b9951d89743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b655f59ff4e10" /><Relationship Type="http://schemas.openxmlformats.org/officeDocument/2006/relationships/image" Target="/ppt/media/image7.png" Id="R6245d4b4adf44ab6" /><Relationship Type="http://schemas.openxmlformats.org/officeDocument/2006/relationships/notesSlide" Target="/ppt/notesSlides/notesSlide10.xml" Id="Rc9bb10b263ff44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2d77a9fe045de" /><Relationship Type="http://schemas.openxmlformats.org/officeDocument/2006/relationships/image" Target="/ppt/media/image8.png" Id="R06fcb595c8b24522" /><Relationship Type="http://schemas.openxmlformats.org/officeDocument/2006/relationships/notesSlide" Target="/ppt/notesSlides/notesSlide11.xml" Id="R3fd3b51d6bf74a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4442d06bb4a8b" /><Relationship Type="http://schemas.openxmlformats.org/officeDocument/2006/relationships/image" Target="/ppt/media/image9.png" Id="R3656b45a2efd4cb9" /><Relationship Type="http://schemas.openxmlformats.org/officeDocument/2006/relationships/notesSlide" Target="/ppt/notesSlides/notesSlide12.xml" Id="Rb485add6960044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e89d9f61a46fd" /><Relationship Type="http://schemas.openxmlformats.org/officeDocument/2006/relationships/image" Target="/ppt/media/image10.png" Id="R4397c7c2774f4338" /><Relationship Type="http://schemas.openxmlformats.org/officeDocument/2006/relationships/notesSlide" Target="/ppt/notesSlides/notesSlide13.xml" Id="R0dd1f5a5a76343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3fbe846f9448a" /><Relationship Type="http://schemas.openxmlformats.org/officeDocument/2006/relationships/image" Target="/ppt/media/image11.png" Id="R4d52224852424ea8" /><Relationship Type="http://schemas.openxmlformats.org/officeDocument/2006/relationships/notesSlide" Target="/ppt/notesSlides/notesSlide14.xml" Id="Rbe37d2c4e68043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72dfb3d914373" /><Relationship Type="http://schemas.openxmlformats.org/officeDocument/2006/relationships/image" Target="/ppt/media/image12.png" Id="R3c51b39606fb4910" /><Relationship Type="http://schemas.openxmlformats.org/officeDocument/2006/relationships/notesSlide" Target="/ppt/notesSlides/notesSlide15.xml" Id="R8826ec8d35974f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7853dec5d4714" /><Relationship Type="http://schemas.openxmlformats.org/officeDocument/2006/relationships/image" Target="/ppt/media/image13.png" Id="R6069bab1e4634a66" /><Relationship Type="http://schemas.openxmlformats.org/officeDocument/2006/relationships/notesSlide" Target="/ppt/notesSlides/notesSlide16.xml" Id="R28425bf5b12d4b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14539a4c24107" /><Relationship Type="http://schemas.openxmlformats.org/officeDocument/2006/relationships/image" Target="/ppt/media/image14.png" Id="R5a8dbf8241d74b58" /><Relationship Type="http://schemas.openxmlformats.org/officeDocument/2006/relationships/notesSlide" Target="/ppt/notesSlides/notesSlide17.xml" Id="R10bf6d6cae85474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37a45191340a6" /><Relationship Type="http://schemas.openxmlformats.org/officeDocument/2006/relationships/image" Target="/ppt/media/image15.png" Id="Rb719a694066f434a" /><Relationship Type="http://schemas.openxmlformats.org/officeDocument/2006/relationships/notesSlide" Target="/ppt/notesSlides/notesSlide18.xml" Id="Rc94a8a87394d410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4ec9fd43b42b7" /><Relationship Type="http://schemas.openxmlformats.org/officeDocument/2006/relationships/notesSlide" Target="/ppt/notesSlides/notesSlide19.xml" Id="R63184c40d63b4b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67c8aaf1a4e8d" /><Relationship Type="http://schemas.openxmlformats.org/officeDocument/2006/relationships/notesSlide" Target="/ppt/notesSlides/notesSlide20.xml" Id="R0d8ed6ef567945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27E2245-DC76-4116-83D3-B5236339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81EE700-981C-4DC7-9D30-B1960D3F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CC0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CC0FF"/>
                </a:solidFill>
                <a:latin typeface="Arial"/>
                <a:ea typeface="Arial"/>
                <a:cs typeface="Arial"/>
              </a:rPr>
              <a:t>INFÉRENCE ÉCOLOGIQUE · 1962–2022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2966D5F-3BEF-4BBE-BDAE-9C0A3179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Résultats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longitudinaux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899B04C-E3DB-4ADA-821F-55A577E6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E6EAF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6EAF0"/>
                </a:solidFill>
                <a:latin typeface="Arial"/>
                <a:ea typeface="Arial"/>
                <a:cs typeface="Arial"/>
              </a:rPr>
              <a:t>Panel fixe de 2 000 communes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E6EAF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6EAF0"/>
                </a:solidFill>
                <a:latin typeface="Arial"/>
                <a:ea typeface="Arial"/>
                <a:cs typeface="Arial"/>
              </a:rPr>
              <a:t>KRT Python · King EI R · NLS</a:t>
            </a:r>
          </a:p>
        </p:txBody>
      </p:sp>
      <p:sp>
        <p:nvSpPr>
          <p:cNvPr id="5" name="cover-metric">
            <a:extLst xmlns:a="http://schemas.openxmlformats.org/drawingml/2006/main">
              <a:ext uri="{FF2B5EF4-FFF2-40B4-BE49-F238E27FC236}">
                <a16:creationId xmlns:a16="http://schemas.microsoft.com/office/drawing/2014/main" id="{95A25A52-B510-46F9-A199-59ED43DC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C5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C56E"/>
                </a:solidFill>
                <a:latin typeface="Arial"/>
                <a:ea typeface="Arial"/>
                <a:cs typeface="Arial"/>
              </a:rPr>
              <a:t>240/240 Python  ·  240/240 R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0BA56814-530C-4964-B127-4FA24360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8CE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D8"/>
                </a:solidFill>
                <a:latin typeface="Arial"/>
                <a:ea typeface="Arial"/>
                <a:cs typeface="Arial"/>
              </a:rPr>
              <a:t>Résultats, diagnostics et transparence</a:t>
            </a:r>
          </a:p>
        </p:txBody>
      </p:sp>
      <p:sp>
        <p:nvSpPr>
          <p:cNvPr id="7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D829792C-18E0-4CD8-9911-DA56DA95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6250"/>
            <a:ext cx="5695950" cy="5905500"/>
          </a:xfrm>
          <a:prstGeom xmlns:a="http://schemas.openxmlformats.org/drawingml/2006/main" prst="roundRect">
            <a:avLst>
              <a:gd name="adj" fmla="val 20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18d5917e940cb"/>
          <a:stretch xmlns:a="http://schemas.openxmlformats.org/drawingml/2006/main"/>
        </p:blipFill>
        <p:spPr>
          <a:xfrm xmlns:a="http://schemas.openxmlformats.org/drawingml/2006/main">
            <a:off x="5943600" y="1926621"/>
            <a:ext cx="5695950" cy="300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1781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2">
            <a:extLst xmlns:a="http://schemas.openxmlformats.org/drawingml/2006/main">
              <a:ext uri="{FF2B5EF4-FFF2-40B4-BE49-F238E27FC236}">
                <a16:creationId xmlns:a16="http://schemas.microsoft.com/office/drawing/2014/main" id="{5DBB5384-DB11-4489-8107-8C6D1F68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RÉSULTATS CLÉS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42F76F4-1044-433F-BBED-CCE4D452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Deux trajectoires centrales, une validation différenciée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3A65092D-1FF9-42A9-AD19-1EF7185A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A2BEB9A2-3542-4AC4-A130-F4EB3A0F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0a-label">
            <a:extLst xmlns:a="http://schemas.openxmlformats.org/drawingml/2006/main">
              <a:ext uri="{FF2B5EF4-FFF2-40B4-BE49-F238E27FC236}">
                <a16:creationId xmlns:a16="http://schemas.microsoft.com/office/drawing/2014/main" id="{533D0DFA-531F-4050-BA28-5B4B91A0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H0A</a:t>
            </a:r>
          </a:p>
        </p:txBody>
      </p:sp>
      <p:sp>
        <p:nvSpPr>
          <p:cNvPr id="6" name="h0a-result">
            <a:extLst xmlns:a="http://schemas.openxmlformats.org/drawingml/2006/main">
              <a:ext uri="{FF2B5EF4-FFF2-40B4-BE49-F238E27FC236}">
                <a16:creationId xmlns:a16="http://schemas.microsoft.com/office/drawing/2014/main" id="{E1643BF6-BCDA-4B8C-BF05-73BC9E6F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Le contraste d'abstention populaire passe d'un signe négatif à un signe positif.</a:t>
            </a:r>
          </a:p>
        </p:txBody>
      </p:sp>
      <p:sp>
        <p:nvSpPr>
          <p:cNvPr id="7" name="h1-label">
            <a:extLst xmlns:a="http://schemas.openxmlformats.org/drawingml/2006/main">
              <a:ext uri="{FF2B5EF4-FFF2-40B4-BE49-F238E27FC236}">
                <a16:creationId xmlns:a16="http://schemas.microsoft.com/office/drawing/2014/main" id="{29896FE0-A242-48B1-B7EB-750E3E93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8" name="h1-result">
            <a:extLst xmlns:a="http://schemas.openxmlformats.org/drawingml/2006/main">
              <a:ext uri="{FF2B5EF4-FFF2-40B4-BE49-F238E27FC236}">
                <a16:creationId xmlns:a16="http://schemas.microsoft.com/office/drawing/2014/main" id="{0CB38563-E95E-4103-AD49-CD36603C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Le contraste de vote populaire à gauche devient négatif dans les scrutins récents.</a:t>
            </a:r>
          </a:p>
        </p:txBody>
      </p:sp>
      <p:sp>
        <p:nvSpPr>
          <p:cNvPr id="9" name="metric-KRT canoniques">
            <a:extLst xmlns:a="http://schemas.openxmlformats.org/drawingml/2006/main">
              <a:ext uri="{FF2B5EF4-FFF2-40B4-BE49-F238E27FC236}">
                <a16:creationId xmlns:a16="http://schemas.microsoft.com/office/drawing/2014/main" id="{BBF40512-D659-4F00-AE1A-A0FAD1A1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24955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solidFill>
              <a:srgbClr val="EAF1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metric-value-KRT canoniques">
            <a:extLst xmlns:a="http://schemas.openxmlformats.org/drawingml/2006/main">
              <a:ext uri="{FF2B5EF4-FFF2-40B4-BE49-F238E27FC236}">
                <a16:creationId xmlns:a16="http://schemas.microsoft.com/office/drawing/2014/main" id="{C7F7163A-E8B5-433E-9A2F-4EF15E89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240/240</a:t>
            </a:r>
          </a:p>
        </p:txBody>
      </p:sp>
      <p:sp>
        <p:nvSpPr>
          <p:cNvPr id="11" name="metric-label-KRT canoniques">
            <a:extLst xmlns:a="http://schemas.openxmlformats.org/drawingml/2006/main">
              <a:ext uri="{FF2B5EF4-FFF2-40B4-BE49-F238E27FC236}">
                <a16:creationId xmlns:a16="http://schemas.microsoft.com/office/drawing/2014/main" id="{A84ACBAC-FC52-4EBE-9A2C-1916DF23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KRT canoniques</a:t>
            </a:r>
          </a:p>
        </p:txBody>
      </p:sp>
      <p:sp>
        <p:nvSpPr>
          <p:cNvPr id="12" name="metric-R EI valides">
            <a:extLst xmlns:a="http://schemas.openxmlformats.org/drawingml/2006/main">
              <a:ext uri="{FF2B5EF4-FFF2-40B4-BE49-F238E27FC236}">
                <a16:creationId xmlns:a16="http://schemas.microsoft.com/office/drawing/2014/main" id="{3C926CE0-EC5E-47FB-A9AD-D79392B1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62300"/>
            <a:ext cx="24955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solidFill>
              <a:srgbClr val="FFF1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metric-value-R EI valides">
            <a:extLst xmlns:a="http://schemas.openxmlformats.org/drawingml/2006/main">
              <a:ext uri="{FF2B5EF4-FFF2-40B4-BE49-F238E27FC236}">
                <a16:creationId xmlns:a16="http://schemas.microsoft.com/office/drawing/2014/main" id="{0E0D834F-4922-465F-8EC7-8428658E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0995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240/240</a:t>
            </a:r>
          </a:p>
        </p:txBody>
      </p:sp>
      <p:sp>
        <p:nvSpPr>
          <p:cNvPr id="14" name="metric-label-R EI valides">
            <a:extLst xmlns:a="http://schemas.openxmlformats.org/drawingml/2006/main">
              <a:ext uri="{FF2B5EF4-FFF2-40B4-BE49-F238E27FC236}">
                <a16:creationId xmlns:a16="http://schemas.microsoft.com/office/drawing/2014/main" id="{3BCE7EAA-EA12-4D3B-8FA5-0A1E6E35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7195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R EI valides</a:t>
            </a:r>
          </a:p>
        </p:txBody>
      </p:sp>
      <p:sp>
        <p:nvSpPr>
          <p:cNvPr id="15" name="metric-NLS au statut pass">
            <a:extLst xmlns:a="http://schemas.openxmlformats.org/drawingml/2006/main">
              <a:ext uri="{FF2B5EF4-FFF2-40B4-BE49-F238E27FC236}">
                <a16:creationId xmlns:a16="http://schemas.microsoft.com/office/drawing/2014/main" id="{3F3C0B53-0587-4F0B-BFD5-01B1930C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62300"/>
            <a:ext cx="24955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solidFill>
              <a:srgbClr val="EAF1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metric-value-NLS au statut pass">
            <a:extLst xmlns:a="http://schemas.openxmlformats.org/drawingml/2006/main">
              <a:ext uri="{FF2B5EF4-FFF2-40B4-BE49-F238E27FC236}">
                <a16:creationId xmlns:a16="http://schemas.microsoft.com/office/drawing/2014/main" id="{F3486C3F-0478-4AA7-B634-A48AFA2A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995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270/292</a:t>
            </a:r>
          </a:p>
        </p:txBody>
      </p:sp>
      <p:sp>
        <p:nvSpPr>
          <p:cNvPr id="17" name="metric-label-NLS au statut pass">
            <a:extLst xmlns:a="http://schemas.openxmlformats.org/drawingml/2006/main">
              <a:ext uri="{FF2B5EF4-FFF2-40B4-BE49-F238E27FC236}">
                <a16:creationId xmlns:a16="http://schemas.microsoft.com/office/drawing/2014/main" id="{24AF5CC1-DAE7-4625-8C1A-BB65EF7C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NLS au statut pass</a:t>
            </a:r>
          </a:p>
        </p:txBody>
      </p:sp>
      <p:sp>
        <p:nvSpPr>
          <p:cNvPr id="18" name="metric-MCMC au statut pass">
            <a:extLst xmlns:a="http://schemas.openxmlformats.org/drawingml/2006/main">
              <a:ext uri="{FF2B5EF4-FFF2-40B4-BE49-F238E27FC236}">
                <a16:creationId xmlns:a16="http://schemas.microsoft.com/office/drawing/2014/main" id="{2DDB0B3D-0920-46D0-B0CF-37704F8E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62300"/>
            <a:ext cx="24955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solidFill>
              <a:srgbClr val="FFF1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metric-value-MCMC au statut pass">
            <a:extLst xmlns:a="http://schemas.openxmlformats.org/drawingml/2006/main">
              <a:ext uri="{FF2B5EF4-FFF2-40B4-BE49-F238E27FC236}">
                <a16:creationId xmlns:a16="http://schemas.microsoft.com/office/drawing/2014/main" id="{317D2E07-5AD8-40AC-8EFA-71720B38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0995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41/240</a:t>
            </a:r>
          </a:p>
        </p:txBody>
      </p:sp>
      <p:sp>
        <p:nvSpPr>
          <p:cNvPr id="20" name="metric-label-MCMC au statut pass">
            <a:extLst xmlns:a="http://schemas.openxmlformats.org/drawingml/2006/main">
              <a:ext uri="{FF2B5EF4-FFF2-40B4-BE49-F238E27FC236}">
                <a16:creationId xmlns:a16="http://schemas.microsoft.com/office/drawing/2014/main" id="{B72BBE82-A798-47F2-821E-1873E525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7195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MCMC au statut pass</a:t>
            </a:r>
          </a:p>
        </p:txBody>
      </p:sp>
      <p:sp>
        <p:nvSpPr>
          <p:cNvPr id="21" name="results-warning">
            <a:extLst xmlns:a="http://schemas.openxmlformats.org/drawingml/2006/main">
              <a:ext uri="{FF2B5EF4-FFF2-40B4-BE49-F238E27FC236}">
                <a16:creationId xmlns:a16="http://schemas.microsoft.com/office/drawing/2014/main" id="{5D45468E-0781-4CF2-AD26-34AFB6F3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Couverture de calcul ≠ validation substantielle : caveats et échecs restent visibles.</a:t>
            </a:r>
          </a:p>
        </p:txBody>
      </p:sp>
      <p:sp>
        <p:nvSpPr>
          <p:cNvPr id="2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D653522-9B7E-48BB-8292-7A93967A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Sources : tables KRT/R/NLS et diagnostics résumés de la livraison professeur.</a:t>
            </a:r>
          </a:p>
        </p:txBody>
      </p:sp>
    </p:spTree>
    <p:extLst>
      <p:ext uri="{BB962C8B-B14F-4D97-AF65-F5344CB8AC3E}">
        <p14:creationId xmlns:p14="http://schemas.microsoft.com/office/powerpoint/2010/main" val="1142576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3">
            <a:extLst xmlns:a="http://schemas.openxmlformats.org/drawingml/2006/main">
              <a:ext uri="{FF2B5EF4-FFF2-40B4-BE49-F238E27FC236}">
                <a16:creationId xmlns:a16="http://schemas.microsoft.com/office/drawing/2014/main" id="{E63007DF-8320-49C2-B5FE-73F6173A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QUESTION, DONNÉES, MÉTHODE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88AD105-2BC9-493C-88C9-384A1C7A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Mesurer des contrastes sociaux sans confondre écologie et individus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819D88F0-3535-47C4-B625-1959ED76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E11C4BE7-C571-407C-8C72-08BA6491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method-left">
            <a:extLst xmlns:a="http://schemas.openxmlformats.org/drawingml/2006/main">
              <a:ext uri="{FF2B5EF4-FFF2-40B4-BE49-F238E27FC236}">
                <a16:creationId xmlns:a16="http://schemas.microsoft.com/office/drawing/2014/main" id="{DE31346A-1E1E-46B4-86B9-DD2BB58C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521970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C82229C-CE71-4BA4-9346-13AC6AEE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Question scientifique</a:t>
            </a:r>
          </a:p>
        </p:txBody>
      </p:sp>
      <p:sp>
        <p:nvSpPr>
          <p:cNvPr id="7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BA3C1D4B-E6A6-4EB9-BD17-1DD61F8C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514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7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Comment les associations entre structure sociale communale et choix électoraux se déplacent-elles entre 1962 et 2022 ?</a:t>
            </a:r>
          </a:p>
        </p:txBody>
      </p:sp>
      <p:sp>
        <p:nvSpPr>
          <p:cNvPr id="8" name="question-link">
            <a:extLst xmlns:a="http://schemas.openxmlformats.org/drawingml/2006/main">
              <a:ext uri="{FF2B5EF4-FFF2-40B4-BE49-F238E27FC236}">
                <a16:creationId xmlns:a16="http://schemas.microsoft.com/office/drawing/2014/main" id="{844AE579-3D79-462E-A972-1B1C7A78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4514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Lien Cagé–Piketty : transformation de la composition sociale des électorats, ici mesurée au niveau communal et longitudinal.</a:t>
            </a:r>
          </a:p>
        </p:txBody>
      </p:sp>
      <p:sp>
        <p:nvSpPr>
          <p:cNvPr id="9" name="limit-label">
            <a:extLst xmlns:a="http://schemas.openxmlformats.org/drawingml/2006/main">
              <a:ext uri="{FF2B5EF4-FFF2-40B4-BE49-F238E27FC236}">
                <a16:creationId xmlns:a16="http://schemas.microsoft.com/office/drawing/2014/main" id="{3829D61D-B287-4FBF-98B3-D0561233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Limite centrale</a:t>
            </a:r>
          </a:p>
        </p:txBody>
      </p:sp>
      <p:sp>
        <p:nvSpPr>
          <p:cNvPr id="10" name="limit-body">
            <a:extLst xmlns:a="http://schemas.openxmlformats.org/drawingml/2006/main">
              <a:ext uri="{FF2B5EF4-FFF2-40B4-BE49-F238E27FC236}">
                <a16:creationId xmlns:a16="http://schemas.microsoft.com/office/drawing/2014/main" id="{A8031449-1180-46C5-B13F-D08C9774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Association écologique, ni comportement individuel observé ni causalité.</a:t>
            </a:r>
          </a:p>
        </p:txBody>
      </p:sp>
      <p:sp>
        <p:nvSpPr>
          <p:cNvPr id="11" name="method-card-0">
            <a:extLst xmlns:a="http://schemas.openxmlformats.org/drawingml/2006/main">
              <a:ext uri="{FF2B5EF4-FFF2-40B4-BE49-F238E27FC236}">
                <a16:creationId xmlns:a16="http://schemas.microsoft.com/office/drawing/2014/main" id="{BBD4DE88-3FFE-4F0D-A8D9-8F16D4BE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76400"/>
            <a:ext cx="55054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solidFill>
              <a:srgbClr val="EAF1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method-label-0">
            <a:extLst xmlns:a="http://schemas.openxmlformats.org/drawingml/2006/main">
              <a:ext uri="{FF2B5EF4-FFF2-40B4-BE49-F238E27FC236}">
                <a16:creationId xmlns:a16="http://schemas.microsoft.com/office/drawing/2014/main" id="{AE343597-B474-4668-9A20-416F9232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57375"/>
            <a:ext cx="990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Panel</a:t>
            </a:r>
          </a:p>
        </p:txBody>
      </p:sp>
      <p:sp>
        <p:nvSpPr>
          <p:cNvPr id="13" name="method-body-0">
            <a:extLst xmlns:a="http://schemas.openxmlformats.org/drawingml/2006/main">
              <a:ext uri="{FF2B5EF4-FFF2-40B4-BE49-F238E27FC236}">
                <a16:creationId xmlns:a16="http://schemas.microsoft.com/office/drawing/2014/main" id="{8C4766EB-4DAE-4845-9544-FCE51D86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09750"/>
            <a:ext cx="4019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2 000 communes fixes · géographie harmonisée · provenance jointe</a:t>
            </a:r>
          </a:p>
        </p:txBody>
      </p:sp>
      <p:sp>
        <p:nvSpPr>
          <p:cNvPr id="14" name="method-card-1">
            <a:extLst xmlns:a="http://schemas.openxmlformats.org/drawingml/2006/main">
              <a:ext uri="{FF2B5EF4-FFF2-40B4-BE49-F238E27FC236}">
                <a16:creationId xmlns:a16="http://schemas.microsoft.com/office/drawing/2014/main" id="{EEF0CCB4-F11C-4A53-9BA5-99AA4C50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5054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method-label-1">
            <a:extLst xmlns:a="http://schemas.openxmlformats.org/drawingml/2006/main">
              <a:ext uri="{FF2B5EF4-FFF2-40B4-BE49-F238E27FC236}">
                <a16:creationId xmlns:a16="http://schemas.microsoft.com/office/drawing/2014/main" id="{37FCE25B-641F-47A1-AC59-65713D22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86075"/>
            <a:ext cx="990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KRT</a:t>
            </a:r>
          </a:p>
        </p:txBody>
      </p:sp>
      <p:sp>
        <p:nvSpPr>
          <p:cNvPr id="16" name="method-body-1">
            <a:extLst xmlns:a="http://schemas.openxmlformats.org/drawingml/2006/main">
              <a:ext uri="{FF2B5EF4-FFF2-40B4-BE49-F238E27FC236}">
                <a16:creationId xmlns:a16="http://schemas.microsoft.com/office/drawing/2014/main" id="{C4BD9813-1E83-4F6A-93FC-4747B4E2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38450"/>
            <a:ext cx="4019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Bêta-binomial NumPyro · β communaux · intervalles postérieurs</a:t>
            </a:r>
          </a:p>
        </p:txBody>
      </p:sp>
      <p:sp>
        <p:nvSpPr>
          <p:cNvPr id="17" name="method-card-2">
            <a:extLst xmlns:a="http://schemas.openxmlformats.org/drawingml/2006/main">
              <a:ext uri="{FF2B5EF4-FFF2-40B4-BE49-F238E27FC236}">
                <a16:creationId xmlns:a16="http://schemas.microsoft.com/office/drawing/2014/main" id="{C04786FF-7967-4536-978E-E82B38B1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55054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solidFill>
              <a:srgbClr val="FFF1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method-label-2">
            <a:extLst xmlns:a="http://schemas.openxmlformats.org/drawingml/2006/main">
              <a:ext uri="{FF2B5EF4-FFF2-40B4-BE49-F238E27FC236}">
                <a16:creationId xmlns:a16="http://schemas.microsoft.com/office/drawing/2014/main" id="{B53CD894-1D6F-4788-87D9-1AB9B214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14775"/>
            <a:ext cx="990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R EI</a:t>
            </a:r>
          </a:p>
        </p:txBody>
      </p:sp>
      <p:sp>
        <p:nvSpPr>
          <p:cNvPr id="19" name="method-body-2">
            <a:extLst xmlns:a="http://schemas.openxmlformats.org/drawingml/2006/main">
              <a:ext uri="{FF2B5EF4-FFF2-40B4-BE49-F238E27FC236}">
                <a16:creationId xmlns:a16="http://schemas.microsoft.com/office/drawing/2014/main" id="{E4C7D023-DBF6-415F-942E-752BDAE1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67150"/>
            <a:ext cx="4019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King normale tronquée via ei/eiPack · réplication de robustesse</a:t>
            </a:r>
          </a:p>
        </p:txBody>
      </p:sp>
      <p:sp>
        <p:nvSpPr>
          <p:cNvPr id="20" name="method-card-3">
            <a:extLst xmlns:a="http://schemas.openxmlformats.org/drawingml/2006/main">
              <a:ext uri="{FF2B5EF4-FFF2-40B4-BE49-F238E27FC236}">
                <a16:creationId xmlns:a16="http://schemas.microsoft.com/office/drawing/2014/main" id="{09FF2A52-ED04-49BD-83B1-C6ACE883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55054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ethod-label-3">
            <a:extLst xmlns:a="http://schemas.openxmlformats.org/drawingml/2006/main">
              <a:ext uri="{FF2B5EF4-FFF2-40B4-BE49-F238E27FC236}">
                <a16:creationId xmlns:a16="http://schemas.microsoft.com/office/drawing/2014/main" id="{18D67CC8-24D8-475A-8344-AC1692AA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43475"/>
            <a:ext cx="990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NLS</a:t>
            </a:r>
          </a:p>
        </p:txBody>
      </p:sp>
      <p:sp>
        <p:nvSpPr>
          <p:cNvPr id="22" name="method-body-3">
            <a:extLst xmlns:a="http://schemas.openxmlformats.org/drawingml/2006/main">
              <a:ext uri="{FF2B5EF4-FFF2-40B4-BE49-F238E27FC236}">
                <a16:creationId xmlns:a16="http://schemas.microsoft.com/office/drawing/2014/main" id="{43C67AE2-B3F2-481B-B6EA-2F0ABE3C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95850"/>
            <a:ext cx="4019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Objectif déterministe multi-départs · solution ponctuelle</a:t>
            </a:r>
          </a:p>
        </p:txBody>
      </p:sp>
      <p:sp>
        <p:nvSpPr>
          <p:cNvPr id="2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0A1BF6C-95A9-4891-BC4C-69D1E377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Sources : panel_2000.csv, MODEL_SCENARIOS.csv et tables principales.</a:t>
            </a:r>
          </a:p>
        </p:txBody>
      </p:sp>
    </p:spTree>
    <p:extLst>
      <p:ext uri="{BB962C8B-B14F-4D97-AF65-F5344CB8AC3E}">
        <p14:creationId xmlns:p14="http://schemas.microsoft.com/office/powerpoint/2010/main" val="17332062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4">
            <a:extLst xmlns:a="http://schemas.openxmlformats.org/drawingml/2006/main">
              <a:ext uri="{FF2B5EF4-FFF2-40B4-BE49-F238E27FC236}">
                <a16:creationId xmlns:a16="http://schemas.microsoft.com/office/drawing/2014/main" id="{454E5137-4506-43AE-8986-25453853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H0A · LÉGISLATIVES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68B37328-244D-40F5-8A1D-F64F8287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Le contraste d'abstention populaire change de signe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23F2AD89-6843-44AA-95A9-9CBB3946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B7AA227-5640-4ADC-81FA-71733CCD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akeaway-bg-4">
            <a:extLst xmlns:a="http://schemas.openxmlformats.org/drawingml/2006/main">
              <a:ext uri="{FF2B5EF4-FFF2-40B4-BE49-F238E27FC236}">
                <a16:creationId xmlns:a16="http://schemas.microsoft.com/office/drawing/2014/main" id="{B1006FEE-126B-49F0-8AEA-45564017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276600" cy="39814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akeaway-4">
            <a:extLst xmlns:a="http://schemas.openxmlformats.org/drawingml/2006/main">
              <a:ext uri="{FF2B5EF4-FFF2-40B4-BE49-F238E27FC236}">
                <a16:creationId xmlns:a16="http://schemas.microsoft.com/office/drawing/2014/main" id="{388A0FC9-500D-4985-97AB-91CDF4AA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Négatif au début, positif depuis les années 1980.</a:t>
            </a:r>
          </a:p>
        </p:txBody>
      </p:sp>
      <p:sp>
        <p:nvSpPr>
          <p:cNvPr id="7" name="details-4">
            <a:extLst xmlns:a="http://schemas.openxmlformats.org/drawingml/2006/main">
              <a:ext uri="{FF2B5EF4-FFF2-40B4-BE49-F238E27FC236}">
                <a16:creationId xmlns:a16="http://schemas.microsoft.com/office/drawing/2014/main" id="{7A75DA49-2F01-4846-9AE4-3FAF0D68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781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Pic au début des années 2000</a:t>
            </a:r>
          </a:p>
          <a:p xmlns:a="http://schemas.openxmlformats.org/drawingml/2006/main"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KRT et R EI suivent la même forme</a:t>
            </a:r>
          </a:p>
          <a:p xmlns:a="http://schemas.openxmlformats.org/drawingml/2006/main"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Intervalle et diagnostic restent attachés</a:t>
            </a:r>
          </a:p>
        </p:txBody>
      </p:sp>
      <p:sp>
        <p:nvSpPr>
          <p:cNvPr id="8" name="figure-4-frame">
            <a:extLst xmlns:a="http://schemas.openxmlformats.org/drawingml/2006/main">
              <a:ext uri="{FF2B5EF4-FFF2-40B4-BE49-F238E27FC236}">
                <a16:creationId xmlns:a16="http://schemas.microsoft.com/office/drawing/2014/main" id="{CE784F5E-E30C-4443-83DC-66BB7358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5438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45ea0c48949fa"/>
          <a:stretch xmlns:a="http://schemas.openxmlformats.org/drawingml/2006/main"/>
        </p:blipFill>
        <p:spPr>
          <a:xfrm xmlns:a="http://schemas.openxmlformats.org/drawingml/2006/main">
            <a:off x="4114800" y="1791652"/>
            <a:ext cx="7543800" cy="3979546"/>
          </a:xfrm>
          <a:prstGeom xmlns:a="http://schemas.openxmlformats.org/drawingml/2006/main" prst="rect">
            <a:avLst/>
          </a:prstGeom>
        </p:spPr>
      </p:pic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E62E72F-D76B-4FFB-AEC9-A5D70F2A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03_FIGURES/trajectoire_H0A/H0A_legislative.png</a:t>
            </a:r>
          </a:p>
        </p:txBody>
      </p:sp>
    </p:spTree>
    <p:extLst>
      <p:ext uri="{BB962C8B-B14F-4D97-AF65-F5344CB8AC3E}">
        <p14:creationId xmlns:p14="http://schemas.microsoft.com/office/powerpoint/2010/main" val="90772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5">
            <a:extLst xmlns:a="http://schemas.openxmlformats.org/drawingml/2006/main">
              <a:ext uri="{FF2B5EF4-FFF2-40B4-BE49-F238E27FC236}">
                <a16:creationId xmlns:a16="http://schemas.microsoft.com/office/drawing/2014/main" id="{135A114C-6EA2-4476-ADA8-7C9F4869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H0A · PRÉSIDENTIELLES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5E501C1-8F43-4812-86A3-8EA43DEA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La même bascule, avec un calendrier distinct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925618D2-9198-4DAA-8ADD-770F082B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92D67615-DF73-400B-AB52-F1DD6074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akeaway-bg-5">
            <a:extLst xmlns:a="http://schemas.openxmlformats.org/drawingml/2006/main">
              <a:ext uri="{FF2B5EF4-FFF2-40B4-BE49-F238E27FC236}">
                <a16:creationId xmlns:a16="http://schemas.microsoft.com/office/drawing/2014/main" id="{EB7E6D9D-EEEB-4D20-A8D5-6FA8B551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276600" cy="39814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akeaway-5">
            <a:extLst xmlns:a="http://schemas.openxmlformats.org/drawingml/2006/main">
              <a:ext uri="{FF2B5EF4-FFF2-40B4-BE49-F238E27FC236}">
                <a16:creationId xmlns:a16="http://schemas.microsoft.com/office/drawing/2014/main" id="{11240BB7-DD8F-4C15-BD37-DDC9EEC7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Le contraste récent est positif, mais moins élevé qu'aux législatives.</a:t>
            </a:r>
          </a:p>
        </p:txBody>
      </p:sp>
      <p:sp>
        <p:nvSpPr>
          <p:cNvPr id="7" name="details-5">
            <a:extLst xmlns:a="http://schemas.openxmlformats.org/drawingml/2006/main">
              <a:ext uri="{FF2B5EF4-FFF2-40B4-BE49-F238E27FC236}">
                <a16:creationId xmlns:a16="http://schemas.microsoft.com/office/drawing/2014/main" id="{CB747374-D102-4F2C-80A5-281C5C78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781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Bascule plus progressive</a:t>
            </a:r>
          </a:p>
          <a:p xmlns:a="http://schemas.openxmlformats.org/drawingml/2006/main"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Écart KRT–R limité</a:t>
            </a:r>
          </a:p>
          <a:p xmlns:a="http://schemas.openxmlformats.org/drawingml/2006/main"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Scrutins séparés pour éviter une moyenne trompeuse</a:t>
            </a:r>
          </a:p>
        </p:txBody>
      </p:sp>
      <p:sp>
        <p:nvSpPr>
          <p:cNvPr id="8" name="figure-5-frame">
            <a:extLst xmlns:a="http://schemas.openxmlformats.org/drawingml/2006/main">
              <a:ext uri="{FF2B5EF4-FFF2-40B4-BE49-F238E27FC236}">
                <a16:creationId xmlns:a16="http://schemas.microsoft.com/office/drawing/2014/main" id="{3A8B5744-8FAF-420D-ABBF-7B2BDA0B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5438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80cc940b44cfb"/>
          <a:stretch xmlns:a="http://schemas.openxmlformats.org/drawingml/2006/main"/>
        </p:blipFill>
        <p:spPr>
          <a:xfrm xmlns:a="http://schemas.openxmlformats.org/drawingml/2006/main">
            <a:off x="4114800" y="1791652"/>
            <a:ext cx="7543800" cy="3979546"/>
          </a:xfrm>
          <a:prstGeom xmlns:a="http://schemas.openxmlformats.org/drawingml/2006/main" prst="rect">
            <a:avLst/>
          </a:prstGeom>
        </p:spPr>
      </p:pic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E342FA5-F5CE-4E14-B97D-83E0B71C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03_FIGURES/trajectoire_H0A/H0A_presidential.png</a:t>
            </a:r>
          </a:p>
        </p:txBody>
      </p:sp>
    </p:spTree>
    <p:extLst>
      <p:ext uri="{BB962C8B-B14F-4D97-AF65-F5344CB8AC3E}">
        <p14:creationId xmlns:p14="http://schemas.microsoft.com/office/powerpoint/2010/main" val="20020641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6">
            <a:extLst xmlns:a="http://schemas.openxmlformats.org/drawingml/2006/main">
              <a:ext uri="{FF2B5EF4-FFF2-40B4-BE49-F238E27FC236}">
                <a16:creationId xmlns:a16="http://schemas.microsoft.com/office/drawing/2014/main" id="{C28A2097-C489-42BB-8B1A-BE4597A3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H1 · LÉGISLATIVES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B3D417E-0844-49F0-B004-65A4724D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Le contraste de vote populaire à gauche se retourne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39F2A75D-6DF6-4B56-9975-73EE44C3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5E0B570A-DEEC-4EB3-94F6-6CFB76D7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akeaway-bg-6">
            <a:extLst xmlns:a="http://schemas.openxmlformats.org/drawingml/2006/main">
              <a:ext uri="{FF2B5EF4-FFF2-40B4-BE49-F238E27FC236}">
                <a16:creationId xmlns:a16="http://schemas.microsoft.com/office/drawing/2014/main" id="{0678B35E-687F-40EC-AED9-65FFFBCE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276600" cy="39814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akeaway-6">
            <a:extLst xmlns:a="http://schemas.openxmlformats.org/drawingml/2006/main">
              <a:ext uri="{FF2B5EF4-FFF2-40B4-BE49-F238E27FC236}">
                <a16:creationId xmlns:a16="http://schemas.microsoft.com/office/drawing/2014/main" id="{D50E0D20-132B-4332-A8D1-3FF8973F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Positif pendant une grande partie de la période, négatif en 2022.</a:t>
            </a:r>
          </a:p>
        </p:txBody>
      </p:sp>
      <p:sp>
        <p:nvSpPr>
          <p:cNvPr id="7" name="details-6">
            <a:extLst xmlns:a="http://schemas.openxmlformats.org/drawingml/2006/main">
              <a:ext uri="{FF2B5EF4-FFF2-40B4-BE49-F238E27FC236}">
                <a16:creationId xmlns:a16="http://schemas.microsoft.com/office/drawing/2014/main" id="{0D073043-F631-4EF8-8FE6-7C06AF4B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781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Sommet autour des années 1980</a:t>
            </a:r>
          </a:p>
          <a:p xmlns:a="http://schemas.openxmlformats.org/drawingml/2006/main"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Déclin après 2000</a:t>
            </a:r>
          </a:p>
          <a:p xmlns:a="http://schemas.openxmlformats.org/drawingml/2006/main"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Concordance de signe KRT–R en 2022</a:t>
            </a:r>
          </a:p>
        </p:txBody>
      </p:sp>
      <p:sp>
        <p:nvSpPr>
          <p:cNvPr id="8" name="figure-6-frame">
            <a:extLst xmlns:a="http://schemas.openxmlformats.org/drawingml/2006/main">
              <a:ext uri="{FF2B5EF4-FFF2-40B4-BE49-F238E27FC236}">
                <a16:creationId xmlns:a16="http://schemas.microsoft.com/office/drawing/2014/main" id="{79F8C564-5896-4DFB-9781-ED42BA47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5438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7b537c5764064"/>
          <a:stretch xmlns:a="http://schemas.openxmlformats.org/drawingml/2006/main"/>
        </p:blipFill>
        <p:spPr>
          <a:xfrm xmlns:a="http://schemas.openxmlformats.org/drawingml/2006/main">
            <a:off x="4114800" y="1791652"/>
            <a:ext cx="7543800" cy="3979546"/>
          </a:xfrm>
          <a:prstGeom xmlns:a="http://schemas.openxmlformats.org/drawingml/2006/main" prst="rect">
            <a:avLst/>
          </a:prstGeom>
        </p:spPr>
      </p:pic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C7AB518-F098-468F-9542-B03783E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03_FIGURES/trajectoire_H1/H1_legislative.png</a:t>
            </a:r>
          </a:p>
        </p:txBody>
      </p:sp>
    </p:spTree>
    <p:extLst>
      <p:ext uri="{BB962C8B-B14F-4D97-AF65-F5344CB8AC3E}">
        <p14:creationId xmlns:p14="http://schemas.microsoft.com/office/powerpoint/2010/main" val="13834414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7">
            <a:extLst xmlns:a="http://schemas.openxmlformats.org/drawingml/2006/main">
              <a:ext uri="{FF2B5EF4-FFF2-40B4-BE49-F238E27FC236}">
                <a16:creationId xmlns:a16="http://schemas.microsoft.com/office/drawing/2014/main" id="{4ACBA060-8A44-4FA8-8DEF-40BE6414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H1 · PRÉSIDENTIELLES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4E8028E-DCCD-4119-AB5B-37A98679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Le retournement apparaît aussi aux présidentielles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5E0EC52D-BCB3-4796-A44F-A7EA1BA8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70851B26-ED87-47E2-9EBD-8560B6AB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takeaway-bg-7">
            <a:extLst xmlns:a="http://schemas.openxmlformats.org/drawingml/2006/main">
              <a:ext uri="{FF2B5EF4-FFF2-40B4-BE49-F238E27FC236}">
                <a16:creationId xmlns:a16="http://schemas.microsoft.com/office/drawing/2014/main" id="{CBAE3BC9-CE1F-4CEC-AC04-90648774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276600" cy="39814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akeaway-7">
            <a:extLst xmlns:a="http://schemas.openxmlformats.org/drawingml/2006/main">
              <a:ext uri="{FF2B5EF4-FFF2-40B4-BE49-F238E27FC236}">
                <a16:creationId xmlns:a16="http://schemas.microsoft.com/office/drawing/2014/main" id="{0DD26A26-06F7-42B1-8DCB-29C1BEE9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Le contraste atteint un maximum à la fin des années 1980 puis passe sous zéro.</a:t>
            </a:r>
          </a:p>
        </p:txBody>
      </p:sp>
      <p:sp>
        <p:nvSpPr>
          <p:cNvPr id="7" name="details-7">
            <a:extLst xmlns:a="http://schemas.openxmlformats.org/drawingml/2006/main">
              <a:ext uri="{FF2B5EF4-FFF2-40B4-BE49-F238E27FC236}">
                <a16:creationId xmlns:a16="http://schemas.microsoft.com/office/drawing/2014/main" id="{A3681E0C-8FEA-4D6C-A65D-E171A1C0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781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Convergence vers zéro après 2000</a:t>
            </a:r>
          </a:p>
          <a:p xmlns:a="http://schemas.openxmlformats.org/drawingml/2006/main"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Négatif en 2022</a:t>
            </a:r>
          </a:p>
          <a:p xmlns:a="http://schemas.openxmlformats.org/drawingml/2006/main"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Association écologique, non transfert individuel</a:t>
            </a:r>
          </a:p>
        </p:txBody>
      </p:sp>
      <p:sp>
        <p:nvSpPr>
          <p:cNvPr id="8" name="figure-7-frame">
            <a:extLst xmlns:a="http://schemas.openxmlformats.org/drawingml/2006/main">
              <a:ext uri="{FF2B5EF4-FFF2-40B4-BE49-F238E27FC236}">
                <a16:creationId xmlns:a16="http://schemas.microsoft.com/office/drawing/2014/main" id="{E1AADB82-2034-4D22-8AD5-67F3B870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5438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bd2a03cc04339"/>
          <a:stretch xmlns:a="http://schemas.openxmlformats.org/drawingml/2006/main"/>
        </p:blipFill>
        <p:spPr>
          <a:xfrm xmlns:a="http://schemas.openxmlformats.org/drawingml/2006/main">
            <a:off x="4114800" y="1791652"/>
            <a:ext cx="7543800" cy="3979546"/>
          </a:xfrm>
          <a:prstGeom xmlns:a="http://schemas.openxmlformats.org/drawingml/2006/main" prst="rect">
            <a:avLst/>
          </a:prstGeom>
        </p:spPr>
      </p:pic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0BC3990-3C63-4D65-B14D-8B9A8E5C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03_FIGURES/trajectoire_H1/H1_presidential.png</a:t>
            </a:r>
          </a:p>
        </p:txBody>
      </p:sp>
    </p:spTree>
    <p:extLst>
      <p:ext uri="{BB962C8B-B14F-4D97-AF65-F5344CB8AC3E}">
        <p14:creationId xmlns:p14="http://schemas.microsoft.com/office/powerpoint/2010/main" val="3574267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78273475-06DC-47E8-B88B-90AE9135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H0B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73E813D-13C2-42B7-A959-53D2EE3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Abstention : la trajectoire des ouvriers diffère selon le scrutin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62AE7DEC-AC86-4091-9B76-95F120B3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941B36A1-0CF2-4F9B-A450-A6059741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akeaway-bg-8">
            <a:extLst xmlns:a="http://schemas.openxmlformats.org/drawingml/2006/main">
              <a:ext uri="{FF2B5EF4-FFF2-40B4-BE49-F238E27FC236}">
                <a16:creationId xmlns:a16="http://schemas.microsoft.com/office/drawing/2014/main" id="{5CEE3D0E-78C5-4E80-93FB-43934009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276600" cy="39814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akeaway-8">
            <a:extLst xmlns:a="http://schemas.openxmlformats.org/drawingml/2006/main">
              <a:ext uri="{FF2B5EF4-FFF2-40B4-BE49-F238E27FC236}">
                <a16:creationId xmlns:a16="http://schemas.microsoft.com/office/drawing/2014/main" id="{9696656F-8940-4B7D-A1B2-9357726B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H0B isole les ouvriers pour éviter qu’une moyenne populaire ne masque leur trajectoire propre.</a:t>
            </a:r>
          </a:p>
        </p:txBody>
      </p:sp>
      <p:sp>
        <p:nvSpPr>
          <p:cNvPr id="7" name="details-8">
            <a:extLst xmlns:a="http://schemas.openxmlformats.org/drawingml/2006/main">
              <a:ext uri="{FF2B5EF4-FFF2-40B4-BE49-F238E27FC236}">
                <a16:creationId xmlns:a16="http://schemas.microsoft.com/office/drawing/2014/main" id="{9A007356-D787-45AE-86DF-1D729695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781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Ouvriers × autres groupes</a:t>
            </a:r>
          </a:p>
          <a:p xmlns:a="http://schemas.openxmlformats.org/drawingml/2006/main">
            <a:r>
              <a:t/>
            </a:r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β₁−β₂, en proportion</a:t>
            </a:r>
          </a:p>
          <a:p xmlns:a="http://schemas.openxmlformats.org/drawingml/2006/main">
            <a:r>
              <a:t/>
            </a:r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KRT, R EI et NLS en parallèle</a:t>
            </a:r>
          </a:p>
        </p:txBody>
      </p:sp>
      <p:sp>
        <p:nvSpPr>
          <p:cNvPr id="8" name="figure-8-frame">
            <a:extLst xmlns:a="http://schemas.openxmlformats.org/drawingml/2006/main">
              <a:ext uri="{FF2B5EF4-FFF2-40B4-BE49-F238E27FC236}">
                <a16:creationId xmlns:a16="http://schemas.microsoft.com/office/drawing/2014/main" id="{AEF3C757-5FEC-407C-8F01-98CAE8B3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5438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7505776-6616-4363-B14E-9C4ED7DD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03_FIGURES/trajectoires_KRT_R_NLS_toutes_hypotheses/combined/H0B_legislative_presidential.png</a:t>
            </a:r>
          </a:p>
        </p:txBody>
      </p:sp>
      <p:pic>
        <p:nvPicPr>
          <p:cNvPr id="22" name="trajectory-H0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13d7c6f8d4121"/>
          <a:stretch xmlns:a="http://schemas.openxmlformats.org/drawingml/2006/main"/>
        </p:blipFill>
        <p:spPr>
          <a:xfrm xmlns:a="http://schemas.openxmlformats.org/drawingml/2006/main">
            <a:off x="4267200" y="2757160"/>
            <a:ext cx="7239000" cy="18961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91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78273475-06DC-47E8-B88B-90AE9135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H0C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73E813D-13C2-42B7-A959-53D2EE3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Abstention : les employés suivent une trajectoire distincte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62AE7DEC-AC86-4091-9B76-95F120B3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941B36A1-0CF2-4F9B-A450-A6059741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akeaway-bg-8">
            <a:extLst xmlns:a="http://schemas.openxmlformats.org/drawingml/2006/main">
              <a:ext uri="{FF2B5EF4-FFF2-40B4-BE49-F238E27FC236}">
                <a16:creationId xmlns:a16="http://schemas.microsoft.com/office/drawing/2014/main" id="{5CEE3D0E-78C5-4E80-93FB-43934009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276600" cy="39814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akeaway-8">
            <a:extLst xmlns:a="http://schemas.openxmlformats.org/drawingml/2006/main">
              <a:ext uri="{FF2B5EF4-FFF2-40B4-BE49-F238E27FC236}">
                <a16:creationId xmlns:a16="http://schemas.microsoft.com/office/drawing/2014/main" id="{9696656F-8940-4B7D-A1B2-9357726B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5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H0C sépare les employés des ouvriers et rend visible une dynamique sociale différente.</a:t>
            </a:r>
          </a:p>
        </p:txBody>
      </p:sp>
      <p:sp>
        <p:nvSpPr>
          <p:cNvPr id="7" name="details-8">
            <a:extLst xmlns:a="http://schemas.openxmlformats.org/drawingml/2006/main">
              <a:ext uri="{FF2B5EF4-FFF2-40B4-BE49-F238E27FC236}">
                <a16:creationId xmlns:a16="http://schemas.microsoft.com/office/drawing/2014/main" id="{9A007356-D787-45AE-86DF-1D729695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781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Employés × autres groupes</a:t>
            </a:r>
          </a:p>
          <a:p xmlns:a="http://schemas.openxmlformats.org/drawingml/2006/main">
            <a:r>
              <a:t/>
            </a:r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β₁−β₂, en proportion</a:t>
            </a:r>
          </a:p>
          <a:p xmlns:a="http://schemas.openxmlformats.org/drawingml/2006/main">
            <a:r>
              <a:t/>
            </a:r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KRT, R EI et NLS en parallèle</a:t>
            </a:r>
          </a:p>
        </p:txBody>
      </p:sp>
      <p:sp>
        <p:nvSpPr>
          <p:cNvPr id="8" name="figure-8-frame">
            <a:extLst xmlns:a="http://schemas.openxmlformats.org/drawingml/2006/main">
              <a:ext uri="{FF2B5EF4-FFF2-40B4-BE49-F238E27FC236}">
                <a16:creationId xmlns:a16="http://schemas.microsoft.com/office/drawing/2014/main" id="{AEF3C757-5FEC-407C-8F01-98CAE8B3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5438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7505776-6616-4363-B14E-9C4ED7DD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03_FIGURES/trajectoires_KRT_R_NLS_toutes_hypotheses/combined/H0C_legislative_presidential.png</a:t>
            </a:r>
          </a:p>
        </p:txBody>
      </p:sp>
      <p:pic>
        <p:nvPicPr>
          <p:cNvPr id="22" name="trajectory-H0C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bd597d4af4ea0"/>
          <a:stretch xmlns:a="http://schemas.openxmlformats.org/drawingml/2006/main"/>
        </p:blipFill>
        <p:spPr>
          <a:xfrm xmlns:a="http://schemas.openxmlformats.org/drawingml/2006/main">
            <a:off x="4267200" y="2757160"/>
            <a:ext cx="7239000" cy="18961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91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78273475-06DC-47E8-B88B-90AE9135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H2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73E813D-13C2-42B7-A959-53D2EE3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Vote à gauche : la trajectoire ouvrière varie avec le calendrier électoral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62AE7DEC-AC86-4091-9B76-95F120B3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941B36A1-0CF2-4F9B-A450-A6059741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takeaway-bg-8">
            <a:extLst xmlns:a="http://schemas.openxmlformats.org/drawingml/2006/main">
              <a:ext uri="{FF2B5EF4-FFF2-40B4-BE49-F238E27FC236}">
                <a16:creationId xmlns:a16="http://schemas.microsoft.com/office/drawing/2014/main" id="{5CEE3D0E-78C5-4E80-93FB-43934009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276600" cy="39814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akeaway-8">
            <a:extLst xmlns:a="http://schemas.openxmlformats.org/drawingml/2006/main">
              <a:ext uri="{FF2B5EF4-FFF2-40B4-BE49-F238E27FC236}">
                <a16:creationId xmlns:a16="http://schemas.microsoft.com/office/drawing/2014/main" id="{9696656F-8940-4B7D-A1B2-9357726B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H2 suit spécifiquement le contraste écologique du vote à gauche chez les ouvriers.</a:t>
            </a:r>
          </a:p>
        </p:txBody>
      </p:sp>
      <p:sp>
        <p:nvSpPr>
          <p:cNvPr id="7" name="details-8">
            <a:extLst xmlns:a="http://schemas.openxmlformats.org/drawingml/2006/main">
              <a:ext uri="{FF2B5EF4-FFF2-40B4-BE49-F238E27FC236}">
                <a16:creationId xmlns:a16="http://schemas.microsoft.com/office/drawing/2014/main" id="{9A007356-D787-45AE-86DF-1D729695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781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Ouvriers × autres groupes</a:t>
            </a:r>
          </a:p>
          <a:p xmlns:a="http://schemas.openxmlformats.org/drawingml/2006/main">
            <a:r>
              <a:t/>
            </a:r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Gauche × non-gauche</a:t>
            </a:r>
          </a:p>
          <a:p xmlns:a="http://schemas.openxmlformats.org/drawingml/2006/main">
            <a:r>
              <a:t/>
            </a:r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Législatives et présidentielles séparées</a:t>
            </a:r>
          </a:p>
        </p:txBody>
      </p:sp>
      <p:sp>
        <p:nvSpPr>
          <p:cNvPr id="8" name="figure-8-frame">
            <a:extLst xmlns:a="http://schemas.openxmlformats.org/drawingml/2006/main">
              <a:ext uri="{FF2B5EF4-FFF2-40B4-BE49-F238E27FC236}">
                <a16:creationId xmlns:a16="http://schemas.microsoft.com/office/drawing/2014/main" id="{AEF3C757-5FEC-407C-8F01-98CAE8B3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5438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7505776-6616-4363-B14E-9C4ED7DD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03_FIGURES/trajectoires_KRT_R_NLS_toutes_hypotheses/combined/H2_legislative_presidential.png</a:t>
            </a:r>
          </a:p>
        </p:txBody>
      </p:sp>
      <p:pic>
        <p:nvPicPr>
          <p:cNvPr id="22" name="trajectory-H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5d4b4adf44ab6"/>
          <a:stretch xmlns:a="http://schemas.openxmlformats.org/drawingml/2006/main"/>
        </p:blipFill>
        <p:spPr>
          <a:xfrm xmlns:a="http://schemas.openxmlformats.org/drawingml/2006/main">
            <a:off x="4267200" y="2757160"/>
            <a:ext cx="7239000" cy="18961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91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78273475-06DC-47E8-B88B-90AE9135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H3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73E813D-13C2-42B7-A959-53D2EE3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Vote à gauche : la trajectoire des employés n’est pas celle des ouvriers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62AE7DEC-AC86-4091-9B76-95F120B3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941B36A1-0CF2-4F9B-A450-A6059741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akeaway-bg-8">
            <a:extLst xmlns:a="http://schemas.openxmlformats.org/drawingml/2006/main">
              <a:ext uri="{FF2B5EF4-FFF2-40B4-BE49-F238E27FC236}">
                <a16:creationId xmlns:a16="http://schemas.microsoft.com/office/drawing/2014/main" id="{5CEE3D0E-78C5-4E80-93FB-43934009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276600" cy="39814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akeaway-8">
            <a:extLst xmlns:a="http://schemas.openxmlformats.org/drawingml/2006/main">
              <a:ext uri="{FF2B5EF4-FFF2-40B4-BE49-F238E27FC236}">
                <a16:creationId xmlns:a16="http://schemas.microsoft.com/office/drawing/2014/main" id="{9696656F-8940-4B7D-A1B2-9357726B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H3 confirme l’intérêt de ne pas traiter ouvriers et employés comme un bloc homogène.</a:t>
            </a:r>
          </a:p>
        </p:txBody>
      </p:sp>
      <p:sp>
        <p:nvSpPr>
          <p:cNvPr id="7" name="details-8">
            <a:extLst xmlns:a="http://schemas.openxmlformats.org/drawingml/2006/main">
              <a:ext uri="{FF2B5EF4-FFF2-40B4-BE49-F238E27FC236}">
                <a16:creationId xmlns:a16="http://schemas.microsoft.com/office/drawing/2014/main" id="{9A007356-D787-45AE-86DF-1D729695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781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Employés × autres groupes</a:t>
            </a:r>
          </a:p>
          <a:p xmlns:a="http://schemas.openxmlformats.org/drawingml/2006/main">
            <a:r>
              <a:t/>
            </a:r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Gauche × non-gauche</a:t>
            </a:r>
          </a:p>
          <a:p xmlns:a="http://schemas.openxmlformats.org/drawingml/2006/main">
            <a:r>
              <a:t/>
            </a:r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KRT, R EI et NLS en parallèle</a:t>
            </a:r>
          </a:p>
        </p:txBody>
      </p:sp>
      <p:sp>
        <p:nvSpPr>
          <p:cNvPr id="8" name="figure-8-frame">
            <a:extLst xmlns:a="http://schemas.openxmlformats.org/drawingml/2006/main">
              <a:ext uri="{FF2B5EF4-FFF2-40B4-BE49-F238E27FC236}">
                <a16:creationId xmlns:a16="http://schemas.microsoft.com/office/drawing/2014/main" id="{AEF3C757-5FEC-407C-8F01-98CAE8B3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5438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7505776-6616-4363-B14E-9C4ED7DD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03_FIGURES/trajectoires_KRT_R_NLS_toutes_hypotheses/combined/H3_legislative_presidential.png</a:t>
            </a:r>
          </a:p>
        </p:txBody>
      </p:sp>
      <p:pic>
        <p:nvPicPr>
          <p:cNvPr id="22" name="trajectory-H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cb595c8b24522"/>
          <a:stretch xmlns:a="http://schemas.openxmlformats.org/drawingml/2006/main"/>
        </p:blipFill>
        <p:spPr>
          <a:xfrm xmlns:a="http://schemas.openxmlformats.org/drawingml/2006/main">
            <a:off x="4267200" y="2757160"/>
            <a:ext cx="7239000" cy="18961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91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78273475-06DC-47E8-B88B-90AE9135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H4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73E813D-13C2-42B7-A959-53D2EE3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46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Vote à droite : indépendants agricoles et salariés sont comparés directement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62AE7DEC-AC86-4091-9B76-95F120B3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941B36A1-0CF2-4F9B-A450-A6059741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akeaway-bg-8">
            <a:extLst xmlns:a="http://schemas.openxmlformats.org/drawingml/2006/main">
              <a:ext uri="{FF2B5EF4-FFF2-40B4-BE49-F238E27FC236}">
                <a16:creationId xmlns:a16="http://schemas.microsoft.com/office/drawing/2014/main" id="{5CEE3D0E-78C5-4E80-93FB-43934009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276600" cy="39814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akeaway-8">
            <a:extLst xmlns:a="http://schemas.openxmlformats.org/drawingml/2006/main">
              <a:ext uri="{FF2B5EF4-FFF2-40B4-BE49-F238E27FC236}">
                <a16:creationId xmlns:a16="http://schemas.microsoft.com/office/drawing/2014/main" id="{9696656F-8940-4B7D-A1B2-9357726B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H4 change le découpage social : indépendants agricoles contre ensemble des salariés.</a:t>
            </a:r>
          </a:p>
        </p:txBody>
      </p:sp>
      <p:sp>
        <p:nvSpPr>
          <p:cNvPr id="7" name="details-8">
            <a:extLst xmlns:a="http://schemas.openxmlformats.org/drawingml/2006/main">
              <a:ext uri="{FF2B5EF4-FFF2-40B4-BE49-F238E27FC236}">
                <a16:creationId xmlns:a16="http://schemas.microsoft.com/office/drawing/2014/main" id="{9A007356-D787-45AE-86DF-1D729695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781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Agri.-indépendants × salariés</a:t>
            </a:r>
          </a:p>
          <a:p xmlns:a="http://schemas.openxmlformats.org/drawingml/2006/main">
            <a:r>
              <a:t/>
            </a:r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Droite × reste</a:t>
            </a:r>
          </a:p>
          <a:p xmlns:a="http://schemas.openxmlformats.org/drawingml/2006/main">
            <a:r>
              <a:t/>
            </a:r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Fenêtres d’admissibilité conservées</a:t>
            </a:r>
          </a:p>
        </p:txBody>
      </p:sp>
      <p:sp>
        <p:nvSpPr>
          <p:cNvPr id="8" name="figure-8-frame">
            <a:extLst xmlns:a="http://schemas.openxmlformats.org/drawingml/2006/main">
              <a:ext uri="{FF2B5EF4-FFF2-40B4-BE49-F238E27FC236}">
                <a16:creationId xmlns:a16="http://schemas.microsoft.com/office/drawing/2014/main" id="{AEF3C757-5FEC-407C-8F01-98CAE8B3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5438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7505776-6616-4363-B14E-9C4ED7DD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03_FIGURES/trajectoires_KRT_R_NLS_toutes_hypotheses/combined/H4_legislative_presidential.png</a:t>
            </a:r>
          </a:p>
        </p:txBody>
      </p:sp>
      <p:pic>
        <p:nvPicPr>
          <p:cNvPr id="22" name="trajectory-H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6b45a2efd4cb9"/>
          <a:stretch xmlns:a="http://schemas.openxmlformats.org/drawingml/2006/main"/>
        </p:blipFill>
        <p:spPr>
          <a:xfrm xmlns:a="http://schemas.openxmlformats.org/drawingml/2006/main">
            <a:off x="4267200" y="2757160"/>
            <a:ext cx="7239000" cy="18961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91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78273475-06DC-47E8-B88B-90AE9135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H5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73E813D-13C2-42B7-A959-53D2EE3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Vote au centre : le contraste des cadres est désormais visible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62AE7DEC-AC86-4091-9B76-95F120B3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941B36A1-0CF2-4F9B-A450-A6059741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akeaway-bg-8">
            <a:extLst xmlns:a="http://schemas.openxmlformats.org/drawingml/2006/main">
              <a:ext uri="{FF2B5EF4-FFF2-40B4-BE49-F238E27FC236}">
                <a16:creationId xmlns:a16="http://schemas.microsoft.com/office/drawing/2014/main" id="{5CEE3D0E-78C5-4E80-93FB-43934009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276600" cy="39814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akeaway-8">
            <a:extLst xmlns:a="http://schemas.openxmlformats.org/drawingml/2006/main">
              <a:ext uri="{FF2B5EF4-FFF2-40B4-BE49-F238E27FC236}">
                <a16:creationId xmlns:a16="http://schemas.microsoft.com/office/drawing/2014/main" id="{9696656F-8940-4B7D-A1B2-9357726B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H5 complète la comparaison en isolant les cadres face aux autres groupes sociaux.</a:t>
            </a:r>
          </a:p>
        </p:txBody>
      </p:sp>
      <p:sp>
        <p:nvSpPr>
          <p:cNvPr id="7" name="details-8">
            <a:extLst xmlns:a="http://schemas.openxmlformats.org/drawingml/2006/main">
              <a:ext uri="{FF2B5EF4-FFF2-40B4-BE49-F238E27FC236}">
                <a16:creationId xmlns:a16="http://schemas.microsoft.com/office/drawing/2014/main" id="{9A007356-D787-45AE-86DF-1D729695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781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Cadres × autres groupes</a:t>
            </a:r>
          </a:p>
          <a:p xmlns:a="http://schemas.openxmlformats.org/drawingml/2006/main">
            <a:r>
              <a:t/>
            </a:r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Centre × non-centre</a:t>
            </a:r>
          </a:p>
          <a:p xmlns:a="http://schemas.openxmlformats.org/drawingml/2006/main">
            <a:r>
              <a:t/>
            </a:r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KRT, R EI et NLS en parallèle</a:t>
            </a:r>
          </a:p>
        </p:txBody>
      </p:sp>
      <p:sp>
        <p:nvSpPr>
          <p:cNvPr id="8" name="figure-8-frame">
            <a:extLst xmlns:a="http://schemas.openxmlformats.org/drawingml/2006/main">
              <a:ext uri="{FF2B5EF4-FFF2-40B4-BE49-F238E27FC236}">
                <a16:creationId xmlns:a16="http://schemas.microsoft.com/office/drawing/2014/main" id="{AEF3C757-5FEC-407C-8F01-98CAE8B3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5438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7505776-6616-4363-B14E-9C4ED7DD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03_FIGURES/trajectoires_KRT_R_NLS_toutes_hypotheses/combined/H5_legislative_presidential.png</a:t>
            </a:r>
          </a:p>
        </p:txBody>
      </p:sp>
      <p:pic>
        <p:nvPicPr>
          <p:cNvPr id="22" name="trajectory-H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7c7c2774f4338"/>
          <a:stretch xmlns:a="http://schemas.openxmlformats.org/drawingml/2006/main"/>
        </p:blipFill>
        <p:spPr>
          <a:xfrm xmlns:a="http://schemas.openxmlformats.org/drawingml/2006/main">
            <a:off x="4267200" y="2757160"/>
            <a:ext cx="7239000" cy="18961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91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78273475-06DC-47E8-B88B-90AE9135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H6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73E813D-13C2-42B7-A959-53D2EE3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Vote FN/RN : la trajectoire ouvrière commence en 1986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62AE7DEC-AC86-4091-9B76-95F120B3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941B36A1-0CF2-4F9B-A450-A6059741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akeaway-bg-8">
            <a:extLst xmlns:a="http://schemas.openxmlformats.org/drawingml/2006/main">
              <a:ext uri="{FF2B5EF4-FFF2-40B4-BE49-F238E27FC236}">
                <a16:creationId xmlns:a16="http://schemas.microsoft.com/office/drawing/2014/main" id="{5CEE3D0E-78C5-4E80-93FB-43934009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276600" cy="39814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akeaway-8">
            <a:extLst xmlns:a="http://schemas.openxmlformats.org/drawingml/2006/main">
              <a:ext uri="{FF2B5EF4-FFF2-40B4-BE49-F238E27FC236}">
                <a16:creationId xmlns:a16="http://schemas.microsoft.com/office/drawing/2014/main" id="{9696656F-8940-4B7D-A1B2-9357726B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H6 est interprété sur une fenêtre plus courte, alignée sur la disponibilité du vote FN/RN.</a:t>
            </a:r>
          </a:p>
        </p:txBody>
      </p:sp>
      <p:sp>
        <p:nvSpPr>
          <p:cNvPr id="7" name="details-8">
            <a:extLst xmlns:a="http://schemas.openxmlformats.org/drawingml/2006/main">
              <a:ext uri="{FF2B5EF4-FFF2-40B4-BE49-F238E27FC236}">
                <a16:creationId xmlns:a16="http://schemas.microsoft.com/office/drawing/2014/main" id="{9A007356-D787-45AE-86DF-1D729695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781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Ouvriers × autres groupes</a:t>
            </a:r>
          </a:p>
          <a:p xmlns:a="http://schemas.openxmlformats.org/drawingml/2006/main">
            <a:r>
              <a:t/>
            </a:r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FN/RN × non-FN/RN</a:t>
            </a:r>
          </a:p>
          <a:p xmlns:a="http://schemas.openxmlformats.org/drawingml/2006/main">
            <a:r>
              <a:t/>
            </a:r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Première année : 1986</a:t>
            </a:r>
          </a:p>
        </p:txBody>
      </p:sp>
      <p:sp>
        <p:nvSpPr>
          <p:cNvPr id="8" name="figure-8-frame">
            <a:extLst xmlns:a="http://schemas.openxmlformats.org/drawingml/2006/main">
              <a:ext uri="{FF2B5EF4-FFF2-40B4-BE49-F238E27FC236}">
                <a16:creationId xmlns:a16="http://schemas.microsoft.com/office/drawing/2014/main" id="{AEF3C757-5FEC-407C-8F01-98CAE8B3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5438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7505776-6616-4363-B14E-9C4ED7DD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03_FIGURES/trajectoires_KRT_R_NLS_toutes_hypotheses/combined/H6_legislative_presidential.png</a:t>
            </a:r>
          </a:p>
        </p:txBody>
      </p:sp>
      <p:pic>
        <p:nvPicPr>
          <p:cNvPr id="22" name="trajectory-H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2224852424ea8"/>
          <a:stretch xmlns:a="http://schemas.openxmlformats.org/drawingml/2006/main"/>
        </p:blipFill>
        <p:spPr>
          <a:xfrm xmlns:a="http://schemas.openxmlformats.org/drawingml/2006/main">
            <a:off x="4267200" y="2757160"/>
            <a:ext cx="7239000" cy="18961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91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78273475-06DC-47E8-B88B-90AE9135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H7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73E813D-13C2-42B7-A959-53D2EE3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Vote FN/RN : les employés présentent une trajectoire propre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62AE7DEC-AC86-4091-9B76-95F120B3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941B36A1-0CF2-4F9B-A450-A6059741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akeaway-bg-8">
            <a:extLst xmlns:a="http://schemas.openxmlformats.org/drawingml/2006/main">
              <a:ext uri="{FF2B5EF4-FFF2-40B4-BE49-F238E27FC236}">
                <a16:creationId xmlns:a16="http://schemas.microsoft.com/office/drawing/2014/main" id="{5CEE3D0E-78C5-4E80-93FB-43934009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276600" cy="39814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akeaway-8">
            <a:extLst xmlns:a="http://schemas.openxmlformats.org/drawingml/2006/main">
              <a:ext uri="{FF2B5EF4-FFF2-40B4-BE49-F238E27FC236}">
                <a16:creationId xmlns:a16="http://schemas.microsoft.com/office/drawing/2014/main" id="{9696656F-8940-4B7D-A1B2-9357726B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H7 sépare les employés des ouvriers sur la même fenêtre électorale depuis 1986.</a:t>
            </a:r>
          </a:p>
        </p:txBody>
      </p:sp>
      <p:sp>
        <p:nvSpPr>
          <p:cNvPr id="7" name="details-8">
            <a:extLst xmlns:a="http://schemas.openxmlformats.org/drawingml/2006/main">
              <a:ext uri="{FF2B5EF4-FFF2-40B4-BE49-F238E27FC236}">
                <a16:creationId xmlns:a16="http://schemas.microsoft.com/office/drawing/2014/main" id="{9A007356-D787-45AE-86DF-1D729695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781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Employés × autres groupes</a:t>
            </a:r>
          </a:p>
          <a:p xmlns:a="http://schemas.openxmlformats.org/drawingml/2006/main">
            <a:r>
              <a:t/>
            </a:r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FN/RN × non-FN/RN</a:t>
            </a:r>
          </a:p>
          <a:p xmlns:a="http://schemas.openxmlformats.org/drawingml/2006/main">
            <a:r>
              <a:t/>
            </a:r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KRT, R EI et NLS en parallèle</a:t>
            </a:r>
          </a:p>
        </p:txBody>
      </p:sp>
      <p:sp>
        <p:nvSpPr>
          <p:cNvPr id="8" name="figure-8-frame">
            <a:extLst xmlns:a="http://schemas.openxmlformats.org/drawingml/2006/main">
              <a:ext uri="{FF2B5EF4-FFF2-40B4-BE49-F238E27FC236}">
                <a16:creationId xmlns:a16="http://schemas.microsoft.com/office/drawing/2014/main" id="{AEF3C757-5FEC-407C-8F01-98CAE8B3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5438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7505776-6616-4363-B14E-9C4ED7DD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03_FIGURES/trajectoires_KRT_R_NLS_toutes_hypotheses/combined/H7_legislative_presidential.png</a:t>
            </a:r>
          </a:p>
        </p:txBody>
      </p:sp>
      <p:pic>
        <p:nvPicPr>
          <p:cNvPr id="22" name="trajectory-H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1b39606fb4910"/>
          <a:stretch xmlns:a="http://schemas.openxmlformats.org/drawingml/2006/main"/>
        </p:blipFill>
        <p:spPr>
          <a:xfrm xmlns:a="http://schemas.openxmlformats.org/drawingml/2006/main">
            <a:off x="4267200" y="2757160"/>
            <a:ext cx="7239000" cy="18961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91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10">
            <a:extLst xmlns:a="http://schemas.openxmlformats.org/drawingml/2006/main">
              <a:ext uri="{FF2B5EF4-FFF2-40B4-BE49-F238E27FC236}">
                <a16:creationId xmlns:a16="http://schemas.microsoft.com/office/drawing/2014/main" id="{6DEDF2BE-DF66-427D-BED0-50AE52A2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COMPARAISON DE MODÈLES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279FF54E-D5E9-470B-A221-B69D4F27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KRT et NLS s'alignent globalement, avec des exceptions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F9A4384F-2569-47B0-B955-C43BED34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4CB93204-74BB-4669-8CC9-5DDD6255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akeaway-bg-10">
            <a:extLst xmlns:a="http://schemas.openxmlformats.org/drawingml/2006/main">
              <a:ext uri="{FF2B5EF4-FFF2-40B4-BE49-F238E27FC236}">
                <a16:creationId xmlns:a16="http://schemas.microsoft.com/office/drawing/2014/main" id="{E381B6CB-B942-4663-8299-B7E9C073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276600" cy="39814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akeaway-10">
            <a:extLst xmlns:a="http://schemas.openxmlformats.org/drawingml/2006/main">
              <a:ext uri="{FF2B5EF4-FFF2-40B4-BE49-F238E27FC236}">
                <a16:creationId xmlns:a16="http://schemas.microsoft.com/office/drawing/2014/main" id="{07E25415-CDB0-4257-AFF8-FF254D22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La plupart des 240 couples restent proches de la diagonale.</a:t>
            </a:r>
          </a:p>
        </p:txBody>
      </p:sp>
      <p:sp>
        <p:nvSpPr>
          <p:cNvPr id="7" name="details-10">
            <a:extLst xmlns:a="http://schemas.openxmlformats.org/drawingml/2006/main">
              <a:ext uri="{FF2B5EF4-FFF2-40B4-BE49-F238E27FC236}">
                <a16:creationId xmlns:a16="http://schemas.microsoft.com/office/drawing/2014/main" id="{07EB842C-07CD-40CB-B632-999CC418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781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Objectifs statistiques différents</a:t>
            </a:r>
          </a:p>
          <a:p xmlns:a="http://schemas.openxmlformats.org/drawingml/2006/main"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Or = diagnostic NLS à revoir</a:t>
            </a:r>
          </a:p>
          <a:p xmlns:a="http://schemas.openxmlformats.org/drawingml/2006/main"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Accord de signe plus important que l'identité</a:t>
            </a:r>
          </a:p>
        </p:txBody>
      </p:sp>
      <p:sp>
        <p:nvSpPr>
          <p:cNvPr id="8" name="figure-10-frame">
            <a:extLst xmlns:a="http://schemas.openxmlformats.org/drawingml/2006/main">
              <a:ext uri="{FF2B5EF4-FFF2-40B4-BE49-F238E27FC236}">
                <a16:creationId xmlns:a16="http://schemas.microsoft.com/office/drawing/2014/main" id="{0484CEE9-EB0A-4150-BB3E-569C4E38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5438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9bab1e4634a66"/>
          <a:stretch xmlns:a="http://schemas.openxmlformats.org/drawingml/2006/main"/>
        </p:blipFill>
        <p:spPr>
          <a:xfrm xmlns:a="http://schemas.openxmlformats.org/drawingml/2006/main">
            <a:off x="4114800" y="2025128"/>
            <a:ext cx="7543800" cy="3512593"/>
          </a:xfrm>
          <a:prstGeom xmlns:a="http://schemas.openxmlformats.org/drawingml/2006/main" prst="rect">
            <a:avLst/>
          </a:prstGeom>
        </p:spPr>
      </p:pic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9F5B329-6235-404B-9D97-5B48FAE1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03_FIGURES/comparaison_KRT_NLS/comparaison_krt_nls.png</a:t>
            </a:r>
          </a:p>
        </p:txBody>
      </p:sp>
    </p:spTree>
    <p:extLst>
      <p:ext uri="{BB962C8B-B14F-4D97-AF65-F5344CB8AC3E}">
        <p14:creationId xmlns:p14="http://schemas.microsoft.com/office/powerpoint/2010/main" val="3086688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11">
            <a:extLst xmlns:a="http://schemas.openxmlformats.org/drawingml/2006/main">
              <a:ext uri="{FF2B5EF4-FFF2-40B4-BE49-F238E27FC236}">
                <a16:creationId xmlns:a16="http://schemas.microsoft.com/office/drawing/2014/main" id="{BEDCA014-39A3-43B0-8650-078C8487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ROBUSTESSE PYTHON–R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F9BEA959-DC84-425E-9B3F-470FCAF5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La sensibilité dépend de l'hypothèse</a:t>
            </a: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BE212109-6CC2-4AF8-93A9-76BB8207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3F5683D7-EBA3-417E-9B44-59BDB368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takeaway-bg-11">
            <a:extLst xmlns:a="http://schemas.openxmlformats.org/drawingml/2006/main">
              <a:ext uri="{FF2B5EF4-FFF2-40B4-BE49-F238E27FC236}">
                <a16:creationId xmlns:a16="http://schemas.microsoft.com/office/drawing/2014/main" id="{4D027B6C-B799-411C-898E-596E2762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276600" cy="39814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akeaway-11">
            <a:extLst xmlns:a="http://schemas.openxmlformats.org/drawingml/2006/main">
              <a:ext uri="{FF2B5EF4-FFF2-40B4-BE49-F238E27FC236}">
                <a16:creationId xmlns:a16="http://schemas.microsoft.com/office/drawing/2014/main" id="{CA22BDC7-E80C-45D6-832C-172788D4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H3 présente l'écart absolu médian le plus élevé ; H0B le plus faible.</a:t>
            </a:r>
          </a:p>
        </p:txBody>
      </p:sp>
      <p:sp>
        <p:nvSpPr>
          <p:cNvPr id="7" name="details-11">
            <a:extLst xmlns:a="http://schemas.openxmlformats.org/drawingml/2006/main">
              <a:ext uri="{FF2B5EF4-FFF2-40B4-BE49-F238E27FC236}">
                <a16:creationId xmlns:a16="http://schemas.microsoft.com/office/drawing/2014/main" id="{95AF690B-B06A-4CF6-BC8E-07EB0F01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781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R EI n'est pas le même modèle que KRT</a:t>
            </a:r>
          </a:p>
          <a:p xmlns:a="http://schemas.openxmlformats.org/drawingml/2006/main"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Un écart n'est pas une erreur de traduction</a:t>
            </a:r>
          </a:p>
          <a:p xmlns:a="http://schemas.openxmlformats.org/drawingml/2006/main">
            <a:endParaRPr sz="1238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38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Les 240 couples restent auditables</a:t>
            </a:r>
          </a:p>
        </p:txBody>
      </p:sp>
      <p:sp>
        <p:nvSpPr>
          <p:cNvPr id="8" name="figure-11-frame">
            <a:extLst xmlns:a="http://schemas.openxmlformats.org/drawingml/2006/main">
              <a:ext uri="{FF2B5EF4-FFF2-40B4-BE49-F238E27FC236}">
                <a16:creationId xmlns:a16="http://schemas.microsoft.com/office/drawing/2014/main" id="{3939CDAE-17AA-476F-BFDE-B964F212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5438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dbf8241d74b58"/>
          <a:stretch xmlns:a="http://schemas.openxmlformats.org/drawingml/2006/main"/>
        </p:blipFill>
        <p:spPr>
          <a:xfrm xmlns:a="http://schemas.openxmlformats.org/drawingml/2006/main">
            <a:off x="4515963" y="1676400"/>
            <a:ext cx="6741473" cy="4210050"/>
          </a:xfrm>
          <a:prstGeom xmlns:a="http://schemas.openxmlformats.org/drawingml/2006/main" prst="rect">
            <a:avLst/>
          </a:prstGeom>
        </p:spPr>
      </p:pic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C3DADBF-A464-429D-9B2B-A90A1516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work/longitudinal_2000_v1_full_240_professeur_candidate/03_FIGURES/comparaison_modeles/ecart_median_par_hypothese.png</a:t>
            </a:r>
          </a:p>
        </p:txBody>
      </p:sp>
    </p:spTree>
    <p:extLst>
      <p:ext uri="{BB962C8B-B14F-4D97-AF65-F5344CB8AC3E}">
        <p14:creationId xmlns:p14="http://schemas.microsoft.com/office/powerpoint/2010/main" val="4712090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-12">
            <a:extLst xmlns:a="http://schemas.openxmlformats.org/drawingml/2006/main">
              <a:ext uri="{FF2B5EF4-FFF2-40B4-BE49-F238E27FC236}">
                <a16:creationId xmlns:a16="http://schemas.microsoft.com/office/drawing/2014/main" id="{0D1D6C02-1BA5-4F3C-8AD5-4DBF2753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AUDIT 2022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01BA3999-6C20-4FDD-B982-B80FEA09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Chaque commune compte une fois dans le plan β₁–β₂</a:t>
            </a:r>
          </a:p>
        </p:txBody>
      </p:sp>
      <p:sp>
        <p:nvSpPr>
          <p:cNvPr id="3" name="rule-12">
            <a:extLst xmlns:a="http://schemas.openxmlformats.org/drawingml/2006/main">
              <a:ext uri="{FF2B5EF4-FFF2-40B4-BE49-F238E27FC236}">
                <a16:creationId xmlns:a16="http://schemas.microsoft.com/office/drawing/2014/main" id="{D07CB3FB-D166-4F76-BE44-A8E7FC6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C4946641-D445-4789-AD72-42F6777C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distribution-subtitle">
            <a:extLst xmlns:a="http://schemas.openxmlformats.org/drawingml/2006/main">
              <a:ext uri="{FF2B5EF4-FFF2-40B4-BE49-F238E27FC236}">
                <a16:creationId xmlns:a16="http://schemas.microsoft.com/office/drawing/2014/main" id="{5F70C067-14FA-4F65-8DFC-1E1258CB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Quatre panneaux : H0A/H1 × législatives/présidentielles. La diagonale repère β₁=β₂.</a:t>
            </a:r>
          </a:p>
        </p:txBody>
      </p:sp>
      <p:sp>
        <p:nvSpPr>
          <p:cNvPr id="6" name="distribution-figure-frame">
            <a:extLst xmlns:a="http://schemas.openxmlformats.org/drawingml/2006/main">
              <a:ext uri="{FF2B5EF4-FFF2-40B4-BE49-F238E27FC236}">
                <a16:creationId xmlns:a16="http://schemas.microsoft.com/office/drawing/2014/main" id="{123D1442-C43D-43C8-AC1E-EDBC924C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10096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9a694066f434a"/>
          <a:stretch xmlns:a="http://schemas.openxmlformats.org/drawingml/2006/main"/>
        </p:blipFill>
        <p:spPr>
          <a:xfrm xmlns:a="http://schemas.openxmlformats.org/drawingml/2006/main">
            <a:off x="3773556" y="1962150"/>
            <a:ext cx="4644887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2AA81DE-618C-4530-9FEC-5611FFAF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 : 03_FIGURES/distributions_2D_2022/distributions_2d_2022.png ; 4 000 communes-panneaux par hypothèse.</a:t>
            </a:r>
          </a:p>
        </p:txBody>
      </p:sp>
    </p:spTree>
    <p:extLst>
      <p:ext uri="{BB962C8B-B14F-4D97-AF65-F5344CB8AC3E}">
        <p14:creationId xmlns:p14="http://schemas.microsoft.com/office/powerpoint/2010/main" val="1793986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13">
            <a:extLst xmlns:a="http://schemas.openxmlformats.org/drawingml/2006/main">
              <a:ext uri="{FF2B5EF4-FFF2-40B4-BE49-F238E27FC236}">
                <a16:creationId xmlns:a16="http://schemas.microsoft.com/office/drawing/2014/main" id="{4926A9F3-3E05-4B97-93E8-DC56F94A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DIAGNOSTICS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7229636E-DFAD-4609-AEB4-DAC9F537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Le calcul est complet ; la validation ne l'est pas uniformément</a:t>
            </a:r>
          </a:p>
        </p:txBody>
      </p:sp>
      <p:sp>
        <p:nvSpPr>
          <p:cNvPr id="3" name="rule-13">
            <a:extLst xmlns:a="http://schemas.openxmlformats.org/drawingml/2006/main">
              <a:ext uri="{FF2B5EF4-FFF2-40B4-BE49-F238E27FC236}">
                <a16:creationId xmlns:a16="http://schemas.microsoft.com/office/drawing/2014/main" id="{C93A8F9E-3558-4A04-916E-3AD4A451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3DCBF0B5-CE28-4288-B72A-6F9DC0D0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diag-title-krt">
            <a:extLst xmlns:a="http://schemas.openxmlformats.org/drawingml/2006/main">
              <a:ext uri="{FF2B5EF4-FFF2-40B4-BE49-F238E27FC236}">
                <a16:creationId xmlns:a16="http://schemas.microsoft.com/office/drawing/2014/main" id="{950C17A8-4EEF-4CF9-871A-D85546C5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KRT · statut MCMC</a:t>
            </a:r>
          </a:p>
        </p:txBody>
      </p:sp>
      <p:sp>
        <p:nvSpPr>
          <p:cNvPr id="6" name="diag-pass">
            <a:extLst xmlns:a="http://schemas.openxmlformats.org/drawingml/2006/main">
              <a:ext uri="{FF2B5EF4-FFF2-40B4-BE49-F238E27FC236}">
                <a16:creationId xmlns:a16="http://schemas.microsoft.com/office/drawing/2014/main" id="{B988FDC1-AF30-4AB9-8E6A-646AEA07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solidFill>
              <a:srgbClr val="EAF1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ag-value-pass">
            <a:extLst xmlns:a="http://schemas.openxmlformats.org/drawingml/2006/main">
              <a:ext uri="{FF2B5EF4-FFF2-40B4-BE49-F238E27FC236}">
                <a16:creationId xmlns:a16="http://schemas.microsoft.com/office/drawing/2014/main" id="{44BD2DEF-C02D-465A-84E1-43F66966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8" name="diag-label-pass">
            <a:extLst xmlns:a="http://schemas.openxmlformats.org/drawingml/2006/main">
              <a:ext uri="{FF2B5EF4-FFF2-40B4-BE49-F238E27FC236}">
                <a16:creationId xmlns:a16="http://schemas.microsoft.com/office/drawing/2014/main" id="{EB1E9D06-7748-44FB-A6A6-9678E51F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9" name="diag-caveat">
            <a:extLst xmlns:a="http://schemas.openxmlformats.org/drawingml/2006/main">
              <a:ext uri="{FF2B5EF4-FFF2-40B4-BE49-F238E27FC236}">
                <a16:creationId xmlns:a16="http://schemas.microsoft.com/office/drawing/2014/main" id="{878F6BBE-4955-428A-BCC0-A84E7110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098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diag-value-caveat">
            <a:extLst xmlns:a="http://schemas.openxmlformats.org/drawingml/2006/main">
              <a:ext uri="{FF2B5EF4-FFF2-40B4-BE49-F238E27FC236}">
                <a16:creationId xmlns:a16="http://schemas.microsoft.com/office/drawing/2014/main" id="{B66872DB-0A98-422D-BAE2-10AC02EA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B78B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78B20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11" name="diag-label-caveat">
            <a:extLst xmlns:a="http://schemas.openxmlformats.org/drawingml/2006/main">
              <a:ext uri="{FF2B5EF4-FFF2-40B4-BE49-F238E27FC236}">
                <a16:creationId xmlns:a16="http://schemas.microsoft.com/office/drawing/2014/main" id="{142DF736-DA00-4989-B213-88C3863B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caveat</a:t>
            </a:r>
          </a:p>
        </p:txBody>
      </p:sp>
      <p:sp>
        <p:nvSpPr>
          <p:cNvPr id="12" name="diag-fail">
            <a:extLst xmlns:a="http://schemas.openxmlformats.org/drawingml/2006/main">
              <a:ext uri="{FF2B5EF4-FFF2-40B4-BE49-F238E27FC236}">
                <a16:creationId xmlns:a16="http://schemas.microsoft.com/office/drawing/2014/main" id="{93CFF205-50EE-4E78-9056-634A0648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solidFill>
              <a:srgbClr val="FFF1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diag-value-fail">
            <a:extLst xmlns:a="http://schemas.openxmlformats.org/drawingml/2006/main">
              <a:ext uri="{FF2B5EF4-FFF2-40B4-BE49-F238E27FC236}">
                <a16:creationId xmlns:a16="http://schemas.microsoft.com/office/drawing/2014/main" id="{7E9F220F-BF3A-4E7C-9F4D-C1BA70B9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111</a:t>
            </a:r>
          </a:p>
        </p:txBody>
      </p:sp>
      <p:sp>
        <p:nvSpPr>
          <p:cNvPr id="14" name="diag-label-fail">
            <a:extLst xmlns:a="http://schemas.openxmlformats.org/drawingml/2006/main">
              <a:ext uri="{FF2B5EF4-FFF2-40B4-BE49-F238E27FC236}">
                <a16:creationId xmlns:a16="http://schemas.microsoft.com/office/drawing/2014/main" id="{FCC223A8-CAD6-4766-BB0F-15234DE3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15" name="diag-divider">
            <a:extLst xmlns:a="http://schemas.openxmlformats.org/drawingml/2006/main">
              <a:ext uri="{FF2B5EF4-FFF2-40B4-BE49-F238E27FC236}">
                <a16:creationId xmlns:a16="http://schemas.microsoft.com/office/drawing/2014/main" id="{56D32F0A-4D9D-4428-998C-C650328D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76400"/>
            <a:ext cx="19050" cy="409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diag-title-id">
            <a:extLst xmlns:a="http://schemas.openxmlformats.org/drawingml/2006/main">
              <a:ext uri="{FF2B5EF4-FFF2-40B4-BE49-F238E27FC236}">
                <a16:creationId xmlns:a16="http://schemas.microsoft.com/office/drawing/2014/main" id="{1AD4C18F-6CF4-43E7-A9D5-9C1D36FF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Identification KRT</a:t>
            </a:r>
          </a:p>
        </p:txBody>
      </p:sp>
      <p:sp>
        <p:nvSpPr>
          <p:cNvPr id="17" name="diag-id-values">
            <a:extLst xmlns:a="http://schemas.openxmlformats.org/drawingml/2006/main">
              <a:ext uri="{FF2B5EF4-FFF2-40B4-BE49-F238E27FC236}">
                <a16:creationId xmlns:a16="http://schemas.microsoft.com/office/drawing/2014/main" id="{6FE21226-8C65-48AC-AD3A-872E5F53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050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17 pass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222 caveat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1 fail</a:t>
            </a:r>
          </a:p>
        </p:txBody>
      </p:sp>
      <p:sp>
        <p:nvSpPr>
          <p:cNvPr id="18" name="diag-title-nls">
            <a:extLst xmlns:a="http://schemas.openxmlformats.org/drawingml/2006/main">
              <a:ext uri="{FF2B5EF4-FFF2-40B4-BE49-F238E27FC236}">
                <a16:creationId xmlns:a16="http://schemas.microsoft.com/office/drawing/2014/main" id="{446C0921-EBE7-4C9A-B4EE-24E3179F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764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NLS</a:t>
            </a:r>
          </a:p>
        </p:txBody>
      </p:sp>
      <p:sp>
        <p:nvSpPr>
          <p:cNvPr id="19" name="diag-nls-values">
            <a:extLst xmlns:a="http://schemas.openxmlformats.org/drawingml/2006/main">
              <a:ext uri="{FF2B5EF4-FFF2-40B4-BE49-F238E27FC236}">
                <a16:creationId xmlns:a16="http://schemas.microsoft.com/office/drawing/2014/main" id="{A500A64B-3DEC-4FEB-82EA-BDF85E13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0505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270 pass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22 fail</a:t>
            </a:r>
          </a:p>
        </p:txBody>
      </p:sp>
      <p:sp>
        <p:nvSpPr>
          <p:cNvPr id="20" name="diag-callout">
            <a:extLst xmlns:a="http://schemas.openxmlformats.org/drawingml/2006/main">
              <a:ext uri="{FF2B5EF4-FFF2-40B4-BE49-F238E27FC236}">
                <a16:creationId xmlns:a16="http://schemas.microsoft.com/office/drawing/2014/main" id="{29078355-CBBB-4486-A342-E3921107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10744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diag-callout-text">
            <a:extLst xmlns:a="http://schemas.openxmlformats.org/drawingml/2006/main">
              <a:ext uri="{FF2B5EF4-FFF2-40B4-BE49-F238E27FC236}">
                <a16:creationId xmlns:a16="http://schemas.microsoft.com/office/drawing/2014/main" id="{6011750D-3E63-4BA0-BF47-CBEEC7C6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017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Les relances diagnostiques ciblées ne sont pas sélectionnées. Les statuts caveat/fail restent visibles dans les Parquet et les diagnostics résumés.</a:t>
            </a:r>
          </a:p>
        </p:txBody>
      </p:sp>
      <p:sp>
        <p:nvSpPr>
          <p:cNvPr id="2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477B878-4E42-478D-978F-AF592CD1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Sources : diagnostics_KRT_resume.csv, diagnostics_NLS_resume.csv, identification_resume.csv.</a:t>
            </a:r>
          </a:p>
        </p:txBody>
      </p:sp>
    </p:spTree>
    <p:extLst>
      <p:ext uri="{BB962C8B-B14F-4D97-AF65-F5344CB8AC3E}">
        <p14:creationId xmlns:p14="http://schemas.microsoft.com/office/powerpoint/2010/main" val="5765279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14">
            <a:extLst xmlns:a="http://schemas.openxmlformats.org/drawingml/2006/main">
              <a:ext uri="{FF2B5EF4-FFF2-40B4-BE49-F238E27FC236}">
                <a16:creationId xmlns:a16="http://schemas.microsoft.com/office/drawing/2014/main" id="{63814F2A-177E-450E-A120-C6DE8E4B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8E8DD3B1-B22F-4CB7-A5FB-D62A6014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Une série complète, mais une lecture volontairement différenciée</a:t>
            </a:r>
          </a:p>
        </p:txBody>
      </p:sp>
      <p:sp>
        <p:nvSpPr>
          <p:cNvPr id="3" name="rule-14">
            <a:extLst xmlns:a="http://schemas.openxmlformats.org/drawingml/2006/main">
              <a:ext uri="{FF2B5EF4-FFF2-40B4-BE49-F238E27FC236}">
                <a16:creationId xmlns:a16="http://schemas.microsoft.com/office/drawing/2014/main" id="{0BE07484-1B37-43B3-BDF7-D04AC489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80482EBF-CACC-41E9-8259-F3FADAE7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3CEF2EFE-18D7-4D18-8926-A1913C7F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Résultat</a:t>
            </a:r>
          </a:p>
        </p:txBody>
      </p:sp>
      <p:sp>
        <p:nvSpPr>
          <p:cNvPr id="6" name="conclusion-result">
            <a:extLst xmlns:a="http://schemas.openxmlformats.org/drawingml/2006/main">
              <a:ext uri="{FF2B5EF4-FFF2-40B4-BE49-F238E27FC236}">
                <a16:creationId xmlns:a16="http://schemas.microsoft.com/office/drawing/2014/main" id="{8AA56706-918C-45CF-868E-6ABBE992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04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H0A et H1 dessinent deux recompositions temporelles robustes descriptivement.</a:t>
            </a:r>
          </a:p>
        </p:txBody>
      </p:sp>
      <p:sp>
        <p:nvSpPr>
          <p:cNvPr id="7" name="caution-label">
            <a:extLst xmlns:a="http://schemas.openxmlformats.org/drawingml/2006/main">
              <a:ext uri="{FF2B5EF4-FFF2-40B4-BE49-F238E27FC236}">
                <a16:creationId xmlns:a16="http://schemas.microsoft.com/office/drawing/2014/main" id="{E0180942-9941-4B5D-9D6F-9C9BD5F2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Prudence</a:t>
            </a:r>
          </a:p>
        </p:txBody>
      </p:sp>
      <p:sp>
        <p:nvSpPr>
          <p:cNvPr id="8" name="caution-result">
            <a:extLst xmlns:a="http://schemas.openxmlformats.org/drawingml/2006/main">
              <a:ext uri="{FF2B5EF4-FFF2-40B4-BE49-F238E27FC236}">
                <a16:creationId xmlns:a16="http://schemas.microsoft.com/office/drawing/2014/main" id="{4DD71D4B-9224-4F0F-9C3D-CD6B3420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Les diagnostics et l'inférence écologique empêchent tout verdict individuel ou causal uniforme.</a:t>
            </a:r>
          </a:p>
        </p:txBody>
      </p:sp>
      <p:sp>
        <p:nvSpPr>
          <p:cNvPr id="9" name="delivery-panel">
            <a:extLst xmlns:a="http://schemas.openxmlformats.org/drawingml/2006/main">
              <a:ext uri="{FF2B5EF4-FFF2-40B4-BE49-F238E27FC236}">
                <a16:creationId xmlns:a16="http://schemas.microsoft.com/office/drawing/2014/main" id="{1F02FD99-D183-416D-A3C1-46391395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4673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delivery-title">
            <a:extLst xmlns:a="http://schemas.openxmlformats.org/drawingml/2006/main">
              <a:ext uri="{FF2B5EF4-FFF2-40B4-BE49-F238E27FC236}">
                <a16:creationId xmlns:a16="http://schemas.microsoft.com/office/drawing/2014/main" id="{5996EEE5-0E05-4B06-9BC0-D7BC3264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81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57A7"/>
                </a:solidFill>
                <a:latin typeface="Arial"/>
                <a:ea typeface="Arial"/>
                <a:cs typeface="Arial"/>
              </a:rPr>
              <a:t>Livraison</a:t>
            </a:r>
          </a:p>
        </p:txBody>
      </p:sp>
      <p:sp>
        <p:nvSpPr>
          <p:cNvPr id="11" name="delivery-list">
            <a:extLst xmlns:a="http://schemas.openxmlformats.org/drawingml/2006/main">
              <a:ext uri="{FF2B5EF4-FFF2-40B4-BE49-F238E27FC236}">
                <a16:creationId xmlns:a16="http://schemas.microsoft.com/office/drawing/2014/main" id="{DF64FD4F-599C-4E82-B1AF-F9BFAF04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4762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7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ZIP professeur léger</a:t>
            </a:r>
          </a:p>
          <a:p xmlns:a="http://schemas.openxmlformats.org/drawingml/2006/main">
            <a:endParaRPr sz="1575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Rapport HTML + PDF</a:t>
            </a:r>
          </a:p>
          <a:p xmlns:a="http://schemas.openxmlformats.org/drawingml/2006/main">
            <a:endParaRPr sz="1575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5 tables Parquet principales</a:t>
            </a:r>
          </a:p>
          <a:p xmlns:a="http://schemas.openxmlformats.org/drawingml/2006/main">
            <a:endParaRPr sz="1575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5 familles de figures</a:t>
            </a:r>
          </a:p>
          <a:p xmlns:a="http://schemas.openxmlformats.org/drawingml/2006/main">
            <a:endParaRPr sz="1575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ZIP technique d'audit</a:t>
            </a:r>
          </a:p>
          <a:p xmlns:a="http://schemas.openxmlformats.org/drawingml/2006/main">
            <a:endParaRPr sz="1575" b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42A"/>
                </a:solidFill>
                <a:latin typeface="Arial"/>
                <a:ea typeface="Arial"/>
                <a:cs typeface="Arial"/>
              </a:rPr>
              <a:t>• Présentation séparée</a:t>
            </a:r>
          </a:p>
        </p:txBody>
      </p:sp>
      <p:sp>
        <p:nvSpPr>
          <p:cNvPr id="12" name="next-step">
            <a:extLst xmlns:a="http://schemas.openxmlformats.org/drawingml/2006/main">
              <a:ext uri="{FF2B5EF4-FFF2-40B4-BE49-F238E27FC236}">
                <a16:creationId xmlns:a16="http://schemas.microsoft.com/office/drawing/2014/main" id="{A26EE708-FC70-4A7F-BE95-DF90C347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Prochaine extension : modèle 3×2 et covariables, avec nouvelle stratégie d'identification.</a:t>
            </a:r>
          </a:p>
        </p:txBody>
      </p:sp>
      <p:sp>
        <p:nvSpPr>
          <p:cNvPr id="1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EEE22AF-501B-4A99-B9C5-A40587A4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Politique de sélection : initial_only · couverture : Python 240/240 · R 240/240.</a:t>
            </a:r>
          </a:p>
        </p:txBody>
      </p:sp>
    </p:spTree>
    <p:extLst>
      <p:ext uri="{BB962C8B-B14F-4D97-AF65-F5344CB8AC3E}">
        <p14:creationId xmlns:p14="http://schemas.microsoft.com/office/powerpoint/2010/main" val="1228471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2026-09-01T09:33:01.6980000Z</dcterms:created>
  <dcterms:modified xsi:type="dcterms:W3CDTF">2026-09-01T09:33:01.6980000Z</dcterms:modified>
</coreProperties>
</file>